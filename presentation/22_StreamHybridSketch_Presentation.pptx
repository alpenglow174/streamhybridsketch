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e8f94c-1888-ccf0-fa0d-c5630669c590}">
          <p14:sldIdLst>
            <p14:sldId id="256"/>
            <p14:sldId id="257"/>
          </p14:sldIdLst>
        </p14:section>
        <p14:section name="Approach" id="{a4f05a9b-dd3c-3484-5b2d-502685dc0334}">
          <p14:sldIdLst>
            <p14:sldId id="258"/>
            <p14:sldId id="259"/>
            <p14:sldId id="260"/>
          </p14:sldIdLst>
        </p14:section>
        <p14:section name="Results" id="{af236dcd-1aa3-ba16-3489-7c9d3efef2b8}">
          <p14:sldIdLst>
            <p14:sldId id="261"/>
            <p14:sldId id="262"/>
            <p14:sldId id="263"/>
          </p14:sldIdLst>
        </p14:section>
        <p14:section name="Demo" id="{9442b785-56cb-bd4b-abf5-50e942b633a6}">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Cumulative error at ε = 0.125 (lower is better)</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8A94A6"/>
            </a:solidFill>
            <a:effectLst/>
          </c:spPr>
          <c:invertIfNegative val="0"/>
          <c:dLbls>
            <c:numFmt formatCode="#,##0" sourceLinked="0"/>
            <c:txPr>
              <a:bodyPr/>
              <a:lstStyle/>
              <a:p>
                <a:pPr>
                  <a:defRPr b="0" i="0" strike="noStrike" sz="1100" u="none">
                    <a:solidFill>
                      <a:srgbClr val="4A526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c:v>
                  </c:pt>
                  <c:pt idx="1">
                    <c:v>Gowalla</c:v>
                  </c:pt>
                  <c:pt idx="2">
                    <c:v>Sentiment140</c:v>
                  </c:pt>
                </c:lvl>
              </c:multiLvlStrCache>
            </c:multiLvlStrRef>
          </c:cat>
          <c:val>
            <c:numRef>
              <c:f>Sheet1!$B$2:$B$4</c:f>
              <c:numCache>
                <c:formatCode>General</c:formatCode>
                <c:ptCount val="3"/>
                <c:pt idx="0">
                  <c:v>6119</c:v>
                </c:pt>
                <c:pt idx="1">
                  <c:v>4394</c:v>
                </c:pt>
                <c:pt idx="2">
                  <c:v>2913</c:v>
                </c:pt>
              </c:numCache>
            </c:numRef>
          </c:val>
        </c:ser>
        <c:ser>
          <c:idx val="1"/>
          <c:order val="1"/>
          <c:tx>
            <c:strRef>
              <c:f>Sheet1!$C$1</c:f>
              <c:strCache>
                <c:ptCount val="1"/>
                <c:pt idx="0">
                  <c:v>Tree + peeling</c:v>
                </c:pt>
              </c:strCache>
            </c:strRef>
          </c:tx>
          <c:spPr>
            <a:solidFill>
              <a:srgbClr val="1F8A70"/>
            </a:solidFill>
            <a:effectLst/>
          </c:spPr>
          <c:invertIfNegative val="0"/>
          <c:dLbls>
            <c:numFmt formatCode="#,##0" sourceLinked="0"/>
            <c:txPr>
              <a:bodyPr/>
              <a:lstStyle/>
              <a:p>
                <a:pPr>
                  <a:defRPr b="0" i="0" strike="noStrike" sz="1100" u="none">
                    <a:solidFill>
                      <a:srgbClr val="4A526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c:v>
                  </c:pt>
                  <c:pt idx="1">
                    <c:v>Gowalla</c:v>
                  </c:pt>
                  <c:pt idx="2">
                    <c:v>Sentiment140</c:v>
                  </c:pt>
                </c:lvl>
              </c:multiLvlStrCache>
            </c:multiLvlStrRef>
          </c:cat>
          <c:val>
            <c:numRef>
              <c:f>Sheet1!$C$2:$C$4</c:f>
              <c:numCache>
                <c:formatCode>General</c:formatCode>
                <c:ptCount val="3"/>
                <c:pt idx="0">
                  <c:v>2324</c:v>
                </c:pt>
                <c:pt idx="1">
                  <c:v>2146</c:v>
                </c:pt>
                <c:pt idx="2">
                  <c:v>1354</c:v>
                </c:pt>
              </c:numCache>
            </c:numRef>
          </c:val>
        </c:ser>
        <c:dLbls>
          <c:numFmt formatCode="#,##0" sourceLinked="0"/>
          <c:txPr>
            <a:bodyPr/>
            <a:lstStyle/>
            <a:p>
              <a:pPr>
                <a:defRPr b="0" i="0" strike="noStrike" sz="1100" u="none">
                  <a:solidFill>
                    <a:srgbClr val="4A52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2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we are Team 22. Our project, StreamHybridSketch, finds what is popular right now across many users' data, privately, on a live stream. We will cover the problem, our design, results, and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[0:15-0:35] Picture a city app showing today's busiest areas. Collecting everyone's location history is a privacy problem, so devices send only small summaries. Three things make it hard: the data never stops, every published answer leaks a little privacy, and popularity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[0:35-0:55] We build on three papers. Wu et al. is our baseline: how big a sketch must be, and HybridSketch, which re-picks signs each round so errors cancel. TrieHH finds popular words letter by letter. Gascon et al. list popular items directly with an invertible table. All three publish a fixed number of times; a stream publishes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[0:55-1:20] One round of our pipeline. Real check-ins and tweets are replayed into Kafka, one lane per edge. Each of eight Flower edges sketches its users' items, adds a share of the privacy noise and a mask. The masks cancel when the server adds the uploads, so it only sees the noisy total. Answers flow back through Kafka to an evaluator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We added five switchable parts: a tree of summaries so long totals carry little noise; peeling, which removes heavy items that would otherwise pollute the tree; adaptive sketch width; a drift detector that restarts the window when the top-50 changes; and an IBLT that needs no candidate list. Testing showed two winners: SHS-W for current trends, SHS-C for long totals at strict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[1:50-2:10] When the 200 most popular items are swapped out at rounds 70 and 140, the baseline collapses and needs five and a half rounds to recover. With the drift detector it takes one and a half, and accuracy after the change rises from 0.56 to 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[2:10-2:30] SHS-W also uploads 31 to 61 percent less at the same privacy level. At very strict privacy, tree release with peeling cuts long-run error two to two-and-a-half times on all three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[2:30-2:50] We report what did not work: the tree only helps at strict privacy, enabling everything at once is worse, the IBLT costs more upload, and the drift detector raises false alarms on tweets. The paper reproductions matched, except FreshSketch beat HybridSketch.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then the demo recording, about 2 min, until ~5:00] Now the live demo. One command starts everything. Watch the panels fill round by round, and watch rounds 70 and 140: the baseline drops while ours recovers within a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[~5:00-5:20] To sum up: private federated top-k on a live stream works end to end. Drift-aware windows recover 3.7 times faster with up to 61 percent less upload, and tree release with peeling halves long-run error at strict privacy.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06040"/>
            <a:ext cx="8046720" cy="64008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IOE413 Streaming Data Analytics  ·  Team 22</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StreamHybridSketch</a:t>
            </a:r>
            <a:endParaRPr lang="en-US" sz="4000" dirty="0"/>
          </a:p>
        </p:txBody>
      </p:sp>
      <p:sp>
        <p:nvSpPr>
          <p:cNvPr id="3" name="Text 0"/>
          <p:cNvSpPr/>
          <p:nvPr>
            <p:ph idx="101" type="body" hasCustomPrompt="1"/>
          </p:nvPr>
        </p:nvSpPr>
        <p:spPr>
          <a:xfrm>
            <a:off x="548640" y="2606040"/>
            <a:ext cx="8046720" cy="640080"/>
          </a:xfrm>
          <a:prstGeom prst="rect">
            <a:avLst/>
          </a:prstGeom>
          <a:noFill/>
          <a:ln/>
        </p:spPr>
        <p:txBody>
          <a:bodyPr wrap="square" lIns="0" tIns="0" rIns="0" bIns="0" rtlCol="0" anchor="t"/>
          <a:lstStyle/>
          <a:p>
            <a:pPr indent="0" marL="0">
              <a:buNone/>
            </a:pPr>
            <a:r>
              <a:rPr lang="en-US" sz="1800" dirty="0">
                <a:solidFill>
                  <a:schemeClr val="accent2"/>
                </a:solidFill>
              </a:rPr>
              <a:t>Federated sketches for privacy-preserving streaming analytics</a:t>
            </a:r>
            <a:endParaRPr lang="en-US" sz="1800" dirty="0"/>
          </a:p>
        </p:txBody>
      </p:sp>
      <p:sp>
        <p:nvSpPr>
          <p:cNvPr id="4" name="Text 2"/>
          <p:cNvSpPr txBox="1"/>
          <p:nvPr/>
        </p:nvSpPr>
        <p:spPr>
          <a:xfrm>
            <a:off x="548640" y="3566160"/>
            <a:ext cx="1920240" cy="548640"/>
          </a:xfrm>
          <a:prstGeom prst="rect">
            <a:avLst/>
          </a:prstGeom>
          <a:noFill/>
          <a:ln/>
        </p:spPr>
        <p:txBody>
          <a:bodyPr wrap="square" lIns="0" tIns="0" rIns="0" bIns="0" rtlCol="0" anchor="t"/>
          <a:lstStyle/>
          <a:p>
            <a:pPr indent="0" marL="0">
              <a:buNone/>
            </a:pPr>
            <a:r>
              <a:rPr lang="en-US" sz="1300" b="1" dirty="0">
                <a:solidFill>
                  <a:schemeClr val="bg1"/>
                </a:solidFill>
              </a:rPr>
              <a:t>Adnan Soni</a:t>
            </a:r>
            <a:endParaRPr lang="en-US" sz="1300" dirty="0"/>
          </a:p>
          <a:p>
            <a:pPr indent="0" marL="0">
              <a:buNone/>
            </a:pPr>
            <a:r>
              <a:rPr lang="en-US" sz="1300" dirty="0">
                <a:solidFill>
                  <a:schemeClr val="accent3"/>
                </a:solidFill>
              </a:rPr>
              <a:t>2023BCD0017</a:t>
            </a:r>
            <a:endParaRPr lang="en-US" sz="1300" dirty="0"/>
          </a:p>
        </p:txBody>
      </p:sp>
      <p:sp>
        <p:nvSpPr>
          <p:cNvPr id="5" name="Text 3"/>
          <p:cNvSpPr txBox="1"/>
          <p:nvPr/>
        </p:nvSpPr>
        <p:spPr>
          <a:xfrm>
            <a:off x="2560320" y="3566160"/>
            <a:ext cx="1920240" cy="548640"/>
          </a:xfrm>
          <a:prstGeom prst="rect">
            <a:avLst/>
          </a:prstGeom>
          <a:noFill/>
          <a:ln/>
        </p:spPr>
        <p:txBody>
          <a:bodyPr wrap="square" lIns="0" tIns="0" rIns="0" bIns="0" rtlCol="0" anchor="t"/>
          <a:lstStyle/>
          <a:p>
            <a:pPr indent="0" marL="0">
              <a:buNone/>
            </a:pPr>
            <a:r>
              <a:rPr lang="en-US" sz="1300" b="1" dirty="0">
                <a:solidFill>
                  <a:schemeClr val="bg1"/>
                </a:solidFill>
              </a:rPr>
              <a:t>Bhaskara Akshay Sriram</a:t>
            </a:r>
            <a:endParaRPr lang="en-US" sz="1300" dirty="0"/>
          </a:p>
          <a:p>
            <a:pPr indent="0" marL="0">
              <a:buNone/>
            </a:pPr>
            <a:r>
              <a:rPr lang="en-US" sz="1300" dirty="0">
                <a:solidFill>
                  <a:schemeClr val="accent3"/>
                </a:solidFill>
              </a:rPr>
              <a:t>2023BCD0015</a:t>
            </a:r>
            <a:endParaRPr lang="en-US" sz="1300" dirty="0"/>
          </a:p>
        </p:txBody>
      </p:sp>
      <p:sp>
        <p:nvSpPr>
          <p:cNvPr id="6" name="Text 4"/>
          <p:cNvSpPr txBox="1"/>
          <p:nvPr/>
        </p:nvSpPr>
        <p:spPr>
          <a:xfrm>
            <a:off x="4572000" y="3566160"/>
            <a:ext cx="1920240" cy="548640"/>
          </a:xfrm>
          <a:prstGeom prst="rect">
            <a:avLst/>
          </a:prstGeom>
          <a:noFill/>
          <a:ln/>
        </p:spPr>
        <p:txBody>
          <a:bodyPr wrap="square" lIns="0" tIns="0" rIns="0" bIns="0" rtlCol="0" anchor="t"/>
          <a:lstStyle/>
          <a:p>
            <a:pPr indent="0" marL="0">
              <a:buNone/>
            </a:pPr>
            <a:r>
              <a:rPr lang="en-US" sz="1300" b="1" dirty="0">
                <a:solidFill>
                  <a:schemeClr val="bg1"/>
                </a:solidFill>
              </a:rPr>
              <a:t>Muhammed Minhaj P S</a:t>
            </a:r>
            <a:endParaRPr lang="en-US" sz="1300" dirty="0"/>
          </a:p>
          <a:p>
            <a:pPr indent="0" marL="0">
              <a:buNone/>
            </a:pPr>
            <a:r>
              <a:rPr lang="en-US" sz="1300" dirty="0">
                <a:solidFill>
                  <a:schemeClr val="accent3"/>
                </a:solidFill>
              </a:rPr>
              <a:t>2023BCS0225</a:t>
            </a:r>
            <a:endParaRPr lang="en-US" sz="1300" dirty="0"/>
          </a:p>
        </p:txBody>
      </p:sp>
      <p:sp>
        <p:nvSpPr>
          <p:cNvPr id="7" name="Text 5"/>
          <p:cNvSpPr txBox="1"/>
          <p:nvPr/>
        </p:nvSpPr>
        <p:spPr>
          <a:xfrm>
            <a:off x="6583680" y="3566160"/>
            <a:ext cx="1920240" cy="548640"/>
          </a:xfrm>
          <a:prstGeom prst="rect">
            <a:avLst/>
          </a:prstGeom>
          <a:noFill/>
          <a:ln/>
        </p:spPr>
        <p:txBody>
          <a:bodyPr wrap="square" lIns="0" tIns="0" rIns="0" bIns="0" rtlCol="0" anchor="t"/>
          <a:lstStyle/>
          <a:p>
            <a:pPr indent="0" marL="0">
              <a:buNone/>
            </a:pPr>
            <a:r>
              <a:rPr lang="en-US" sz="1300" b="1" dirty="0">
                <a:solidFill>
                  <a:schemeClr val="bg1"/>
                </a:solidFill>
              </a:rPr>
              <a:t>Hafiz Feroze</a:t>
            </a:r>
            <a:endParaRPr lang="en-US" sz="1300" dirty="0"/>
          </a:p>
          <a:p>
            <a:pPr indent="0" marL="0">
              <a:buNone/>
            </a:pPr>
            <a:r>
              <a:rPr lang="en-US" sz="1300" dirty="0">
                <a:solidFill>
                  <a:schemeClr val="accent3"/>
                </a:solidFill>
              </a:rPr>
              <a:t>2023BCS0006</a:t>
            </a:r>
            <a:endParaRPr lang="en-US" sz="1300" dirty="0"/>
          </a:p>
        </p:txBody>
      </p:sp>
      <p:sp>
        <p:nvSpPr>
          <p:cNvPr id="8" name="Text 6"/>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200" dirty="0">
                <a:solidFill>
                  <a:schemeClr val="accent3"/>
                </a:solidFill>
              </a:rPr>
              <a:t>IOE413 Streaming Data Analytics  ·  Team 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Live top-k answers, no raw data collected</a:t>
            </a:r>
            <a:endParaRPr lang="en-US" sz="3000" dirty="0"/>
          </a:p>
        </p:txBody>
      </p:sp>
      <p:sp>
        <p:nvSpPr>
          <p:cNvPr id="3" name="Text 1"/>
          <p:cNvSpPr txBox="1"/>
          <p:nvPr/>
        </p:nvSpPr>
        <p:spPr>
          <a:xfrm>
            <a:off x="457200" y="1051560"/>
            <a:ext cx="8229600" cy="548640"/>
          </a:xfrm>
          <a:prstGeom prst="rect">
            <a:avLst/>
          </a:prstGeom>
          <a:noFill/>
          <a:ln/>
        </p:spPr>
        <p:txBody>
          <a:bodyPr wrap="square" lIns="0" tIns="0" rIns="0" bIns="0" rtlCol="0" anchor="ctr"/>
          <a:lstStyle/>
          <a:p>
            <a:pPr indent="0" marL="0">
              <a:buNone/>
            </a:pPr>
            <a:r>
              <a:rPr lang="en-US" sz="1600" dirty="0">
                <a:solidFill>
                  <a:schemeClr val="tx2"/>
                </a:solidFill>
              </a:rPr>
              <a:t>Example: a city's 50 busiest areas today, without any phone sending its location history.</a:t>
            </a:r>
            <a:endParaRPr lang="en-US" sz="1600" dirty="0"/>
          </a:p>
        </p:txBody>
      </p:sp>
      <p:sp>
        <p:nvSpPr>
          <p:cNvPr id="4" name="problem card 1"/>
          <p:cNvSpPr/>
          <p:nvPr/>
        </p:nvSpPr>
        <p:spPr>
          <a:xfrm>
            <a:off x="457200" y="1737360"/>
            <a:ext cx="2606040" cy="2148840"/>
          </a:xfrm>
          <a:prstGeom prst="roundRect">
            <a:avLst>
              <a:gd name="adj" fmla="val 3404"/>
            </a:avLst>
          </a:prstGeom>
          <a:solidFill>
            <a:srgbClr val="F2F4F6"/>
          </a:solidFill>
          <a:ln w="12700">
            <a:solidFill>
              <a:srgbClr val="F2F4F6"/>
            </a:solidFill>
            <a:prstDash val="solid"/>
          </a:ln>
        </p:spPr>
      </p:sp>
      <p:sp>
        <p:nvSpPr>
          <p:cNvPr id="5" name="marker 1"/>
          <p:cNvSpPr/>
          <p:nvPr/>
        </p:nvSpPr>
        <p:spPr>
          <a:xfrm>
            <a:off x="731520" y="1965960"/>
            <a:ext cx="384048" cy="384048"/>
          </a:xfrm>
          <a:prstGeom prst="ellipse">
            <a:avLst/>
          </a:prstGeom>
          <a:solidFill>
            <a:srgbClr val="1F8A70"/>
          </a:solidFill>
          <a:ln w="12700">
            <a:solidFill>
              <a:srgbClr val="1F8A70"/>
            </a:solidFill>
            <a:prstDash val="solid"/>
          </a:ln>
        </p:spPr>
      </p:sp>
      <p:sp>
        <p:nvSpPr>
          <p:cNvPr id="6" name="Text 4"/>
          <p:cNvSpPr txBox="1"/>
          <p:nvPr/>
        </p:nvSpPr>
        <p:spPr>
          <a:xfrm>
            <a:off x="731520"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731520" y="251460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Never-ending stream</a:t>
            </a:r>
            <a:endParaRPr lang="en-US" sz="1800" dirty="0"/>
          </a:p>
        </p:txBody>
      </p:sp>
      <p:sp>
        <p:nvSpPr>
          <p:cNvPr id="8" name="Text 6"/>
          <p:cNvSpPr txBox="1"/>
          <p:nvPr/>
        </p:nvSpPr>
        <p:spPr>
          <a:xfrm>
            <a:off x="731520" y="2971800"/>
            <a:ext cx="2103120" cy="822960"/>
          </a:xfrm>
          <a:prstGeom prst="rect">
            <a:avLst/>
          </a:prstGeom>
          <a:noFill/>
          <a:ln/>
        </p:spPr>
        <p:txBody>
          <a:bodyPr wrap="square" lIns="0" tIns="0" rIns="0" bIns="0" rtlCol="0" anchor="t"/>
          <a:lstStyle/>
          <a:p>
            <a:pPr indent="0" marL="0">
              <a:buNone/>
            </a:pPr>
            <a:r>
              <a:rPr lang="en-US" sz="1400" dirty="0">
                <a:solidFill>
                  <a:schemeClr val="tx2"/>
                </a:solidFill>
              </a:rPr>
              <a:t>A new answer every window (day, 6 h), not one answer at the end.</a:t>
            </a:r>
            <a:endParaRPr lang="en-US" sz="1400" dirty="0"/>
          </a:p>
        </p:txBody>
      </p:sp>
      <p:sp>
        <p:nvSpPr>
          <p:cNvPr id="9" name="problem card 2"/>
          <p:cNvSpPr/>
          <p:nvPr/>
        </p:nvSpPr>
        <p:spPr>
          <a:xfrm>
            <a:off x="3273552" y="1737360"/>
            <a:ext cx="2606040" cy="2148840"/>
          </a:xfrm>
          <a:prstGeom prst="roundRect">
            <a:avLst>
              <a:gd name="adj" fmla="val 3404"/>
            </a:avLst>
          </a:prstGeom>
          <a:solidFill>
            <a:srgbClr val="F2F4F6"/>
          </a:solidFill>
          <a:ln w="12700">
            <a:solidFill>
              <a:srgbClr val="F2F4F6"/>
            </a:solidFill>
            <a:prstDash val="solid"/>
          </a:ln>
        </p:spPr>
      </p:sp>
      <p:sp>
        <p:nvSpPr>
          <p:cNvPr id="10" name="marker 2"/>
          <p:cNvSpPr/>
          <p:nvPr/>
        </p:nvSpPr>
        <p:spPr>
          <a:xfrm>
            <a:off x="3547872" y="1965960"/>
            <a:ext cx="384048" cy="384048"/>
          </a:xfrm>
          <a:prstGeom prst="ellipse">
            <a:avLst/>
          </a:prstGeom>
          <a:solidFill>
            <a:srgbClr val="1F8A70"/>
          </a:solidFill>
          <a:ln w="12700">
            <a:solidFill>
              <a:srgbClr val="1F8A70"/>
            </a:solidFill>
            <a:prstDash val="solid"/>
          </a:ln>
        </p:spPr>
      </p:sp>
      <p:sp>
        <p:nvSpPr>
          <p:cNvPr id="11" name="Text 9"/>
          <p:cNvSpPr txBox="1"/>
          <p:nvPr/>
        </p:nvSpPr>
        <p:spPr>
          <a:xfrm>
            <a:off x="3547872"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547872" y="251460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Privacy adds up</a:t>
            </a:r>
            <a:endParaRPr lang="en-US" sz="1800" dirty="0"/>
          </a:p>
        </p:txBody>
      </p:sp>
      <p:sp>
        <p:nvSpPr>
          <p:cNvPr id="13" name="Text 11"/>
          <p:cNvSpPr txBox="1"/>
          <p:nvPr/>
        </p:nvSpPr>
        <p:spPr>
          <a:xfrm>
            <a:off x="3547872" y="2971800"/>
            <a:ext cx="2103120" cy="822960"/>
          </a:xfrm>
          <a:prstGeom prst="rect">
            <a:avLst/>
          </a:prstGeom>
          <a:noFill/>
          <a:ln/>
        </p:spPr>
        <p:txBody>
          <a:bodyPr wrap="square" lIns="0" tIns="0" rIns="0" bIns="0" rtlCol="0" anchor="t"/>
          <a:lstStyle/>
          <a:p>
            <a:pPr indent="0" marL="0">
              <a:buNone/>
            </a:pPr>
            <a:r>
              <a:rPr lang="en-US" sz="1400" dirty="0">
                <a:solidFill>
                  <a:schemeClr val="tx2"/>
                </a:solidFill>
              </a:rPr>
              <a:t>Every release leaks a little. The total must be tracked and kept small.</a:t>
            </a:r>
            <a:endParaRPr lang="en-US" sz="1400" dirty="0"/>
          </a:p>
        </p:txBody>
      </p:sp>
      <p:sp>
        <p:nvSpPr>
          <p:cNvPr id="14" name="problem card 3"/>
          <p:cNvSpPr/>
          <p:nvPr/>
        </p:nvSpPr>
        <p:spPr>
          <a:xfrm>
            <a:off x="6089904" y="1737360"/>
            <a:ext cx="2606040" cy="2148840"/>
          </a:xfrm>
          <a:prstGeom prst="roundRect">
            <a:avLst>
              <a:gd name="adj" fmla="val 3404"/>
            </a:avLst>
          </a:prstGeom>
          <a:solidFill>
            <a:srgbClr val="F2F4F6"/>
          </a:solidFill>
          <a:ln w="12700">
            <a:solidFill>
              <a:srgbClr val="F2F4F6"/>
            </a:solidFill>
            <a:prstDash val="solid"/>
          </a:ln>
        </p:spPr>
      </p:sp>
      <p:sp>
        <p:nvSpPr>
          <p:cNvPr id="15" name="marker 3"/>
          <p:cNvSpPr/>
          <p:nvPr/>
        </p:nvSpPr>
        <p:spPr>
          <a:xfrm>
            <a:off x="6364224" y="1965960"/>
            <a:ext cx="384048" cy="384048"/>
          </a:xfrm>
          <a:prstGeom prst="ellipse">
            <a:avLst/>
          </a:prstGeom>
          <a:solidFill>
            <a:srgbClr val="1F8A70"/>
          </a:solidFill>
          <a:ln w="12700">
            <a:solidFill>
              <a:srgbClr val="1F8A70"/>
            </a:solidFill>
            <a:prstDash val="solid"/>
          </a:ln>
        </p:spPr>
      </p:sp>
      <p:sp>
        <p:nvSpPr>
          <p:cNvPr id="16" name="Text 14"/>
          <p:cNvSpPr txBox="1"/>
          <p:nvPr/>
        </p:nvSpPr>
        <p:spPr>
          <a:xfrm>
            <a:off x="6364224"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6364224" y="251460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Popularity shifts</a:t>
            </a:r>
            <a:endParaRPr lang="en-US" sz="1800" dirty="0"/>
          </a:p>
        </p:txBody>
      </p:sp>
      <p:sp>
        <p:nvSpPr>
          <p:cNvPr id="18" name="Text 16"/>
          <p:cNvSpPr txBox="1"/>
          <p:nvPr/>
        </p:nvSpPr>
        <p:spPr>
          <a:xfrm>
            <a:off x="6364224" y="2971800"/>
            <a:ext cx="2103120" cy="822960"/>
          </a:xfrm>
          <a:prstGeom prst="rect">
            <a:avLst/>
          </a:prstGeom>
          <a:noFill/>
          <a:ln/>
        </p:spPr>
        <p:txBody>
          <a:bodyPr wrap="square" lIns="0" tIns="0" rIns="0" bIns="0" rtlCol="0" anchor="t"/>
          <a:lstStyle/>
          <a:p>
            <a:pPr indent="0" marL="0">
              <a:buNone/>
            </a:pPr>
            <a:r>
              <a:rPr lang="en-US" sz="1400" dirty="0">
                <a:solidFill>
                  <a:schemeClr val="tx2"/>
                </a:solidFill>
              </a:rPr>
              <a:t>A festival makes one area hot. Notice it fast instead of averaging it away.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Built on three published papers</a:t>
            </a:r>
            <a:endParaRPr lang="en-US" sz="3000" dirty="0"/>
          </a:p>
        </p:txBody>
      </p:sp>
      <p:sp>
        <p:nvSpPr>
          <p:cNvPr id="3" name="paper card 1"/>
          <p:cNvSpPr/>
          <p:nvPr/>
        </p:nvSpPr>
        <p:spPr>
          <a:xfrm>
            <a:off x="457200" y="1188720"/>
            <a:ext cx="2606040" cy="3200400"/>
          </a:xfrm>
          <a:prstGeom prst="roundRect">
            <a:avLst>
              <a:gd name="adj" fmla="val 2807"/>
            </a:avLst>
          </a:prstGeom>
          <a:solidFill>
            <a:srgbClr val="F2F4F6"/>
          </a:solidFill>
          <a:ln w="12700">
            <a:solidFill>
              <a:srgbClr val="F2F4F6"/>
            </a:solidFill>
            <a:prstDash val="solid"/>
          </a:ln>
        </p:spPr>
      </p:sp>
      <p:sp>
        <p:nvSpPr>
          <p:cNvPr id="4" name="marker 1"/>
          <p:cNvSpPr/>
          <p:nvPr/>
        </p:nvSpPr>
        <p:spPr>
          <a:xfrm>
            <a:off x="731520" y="1463040"/>
            <a:ext cx="384048" cy="384048"/>
          </a:xfrm>
          <a:prstGeom prst="ellipse">
            <a:avLst/>
          </a:prstGeom>
          <a:solidFill>
            <a:srgbClr val="1F8A70"/>
          </a:solidFill>
          <a:ln w="12700">
            <a:solidFill>
              <a:srgbClr val="1F8A70"/>
            </a:solidFill>
            <a:prstDash val="solid"/>
          </a:ln>
        </p:spPr>
      </p:sp>
      <p:sp>
        <p:nvSpPr>
          <p:cNvPr id="5" name="Text 3"/>
          <p:cNvSpPr txBox="1"/>
          <p:nvPr/>
        </p:nvSpPr>
        <p:spPr>
          <a:xfrm>
            <a:off x="73152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731520" y="1965960"/>
            <a:ext cx="2240280" cy="457200"/>
          </a:xfrm>
          <a:prstGeom prst="rect">
            <a:avLst/>
          </a:prstGeom>
          <a:noFill/>
          <a:ln/>
        </p:spPr>
        <p:txBody>
          <a:bodyPr wrap="square" lIns="0" tIns="0" rIns="0" bIns="0" rtlCol="0" anchor="ctr"/>
          <a:lstStyle/>
          <a:p>
            <a:pPr indent="0" marL="0">
              <a:buNone/>
            </a:pPr>
            <a:r>
              <a:rPr lang="en-US" sz="1400" b="1" dirty="0">
                <a:solidFill>
                  <a:schemeClr val="tx1"/>
                </a:solidFill>
              </a:rPr>
              <a:t>Wu et al. · NeurIPS'23</a:t>
            </a:r>
            <a:endParaRPr lang="en-US" sz="1400" dirty="0"/>
          </a:p>
        </p:txBody>
      </p:sp>
      <p:sp>
        <p:nvSpPr>
          <p:cNvPr id="7" name="Text 5"/>
          <p:cNvSpPr txBox="1"/>
          <p:nvPr/>
        </p:nvSpPr>
        <p:spPr>
          <a:xfrm>
            <a:off x="731520" y="2468880"/>
            <a:ext cx="2103120" cy="1325880"/>
          </a:xfrm>
          <a:prstGeom prst="rect">
            <a:avLst/>
          </a:prstGeom>
          <a:noFill/>
          <a:ln/>
        </p:spPr>
        <p:txBody>
          <a:bodyPr wrap="square" lIns="0" tIns="0" rIns="0" bIns="0" rtlCol="0" anchor="t"/>
          <a:lstStyle/>
          <a:p>
            <a:pPr indent="0" marL="0">
              <a:buNone/>
            </a:pPr>
            <a:r>
              <a:rPr lang="en-US" sz="1300" dirty="0">
                <a:solidFill>
                  <a:schemeClr val="tx2"/>
                </a:solidFill>
              </a:rPr>
              <a:t>Size a CountSketch from the data's tail; reuse cell positions but re-pick signs each round (HybridSketch); add noise for DP.</a:t>
            </a:r>
            <a:endParaRPr lang="en-US" sz="1300" dirty="0"/>
          </a:p>
        </p:txBody>
      </p:sp>
      <p:sp>
        <p:nvSpPr>
          <p:cNvPr id="8" name="Text 6"/>
          <p:cNvSpPr txBox="1"/>
          <p:nvPr/>
        </p:nvSpPr>
        <p:spPr>
          <a:xfrm>
            <a:off x="731520" y="3886200"/>
            <a:ext cx="2103120" cy="320040"/>
          </a:xfrm>
          <a:prstGeom prst="rect">
            <a:avLst/>
          </a:prstGeom>
          <a:noFill/>
          <a:ln/>
        </p:spPr>
        <p:txBody>
          <a:bodyPr wrap="square" lIns="0" tIns="0" rIns="0" bIns="0" rtlCol="0" anchor="ctr"/>
          <a:lstStyle/>
          <a:p>
            <a:pPr indent="0" marL="0">
              <a:buNone/>
            </a:pPr>
            <a:r>
              <a:rPr lang="en-US" sz="1200" b="1" dirty="0">
                <a:solidFill>
                  <a:schemeClr val="accent1"/>
                </a:solidFill>
              </a:rPr>
              <a:t>Main baseline · reproduced</a:t>
            </a:r>
            <a:endParaRPr lang="en-US" sz="1200" dirty="0"/>
          </a:p>
        </p:txBody>
      </p:sp>
      <p:sp>
        <p:nvSpPr>
          <p:cNvPr id="9" name="paper card 2"/>
          <p:cNvSpPr/>
          <p:nvPr/>
        </p:nvSpPr>
        <p:spPr>
          <a:xfrm>
            <a:off x="3273552" y="1188720"/>
            <a:ext cx="2606040" cy="3200400"/>
          </a:xfrm>
          <a:prstGeom prst="roundRect">
            <a:avLst>
              <a:gd name="adj" fmla="val 2807"/>
            </a:avLst>
          </a:prstGeom>
          <a:solidFill>
            <a:srgbClr val="F2F4F6"/>
          </a:solidFill>
          <a:ln w="12700">
            <a:solidFill>
              <a:srgbClr val="F2F4F6"/>
            </a:solidFill>
            <a:prstDash val="solid"/>
          </a:ln>
        </p:spPr>
      </p:sp>
      <p:sp>
        <p:nvSpPr>
          <p:cNvPr id="10" name="marker 2"/>
          <p:cNvSpPr/>
          <p:nvPr/>
        </p:nvSpPr>
        <p:spPr>
          <a:xfrm>
            <a:off x="3547872" y="1463040"/>
            <a:ext cx="384048" cy="384048"/>
          </a:xfrm>
          <a:prstGeom prst="ellipse">
            <a:avLst/>
          </a:prstGeom>
          <a:solidFill>
            <a:srgbClr val="8A94A6"/>
          </a:solidFill>
          <a:ln w="12700">
            <a:solidFill>
              <a:srgbClr val="8A94A6"/>
            </a:solidFill>
            <a:prstDash val="solid"/>
          </a:ln>
        </p:spPr>
      </p:sp>
      <p:sp>
        <p:nvSpPr>
          <p:cNvPr id="11" name="Text 9"/>
          <p:cNvSpPr txBox="1"/>
          <p:nvPr/>
        </p:nvSpPr>
        <p:spPr>
          <a:xfrm>
            <a:off x="3547872"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547872" y="1965960"/>
            <a:ext cx="2240280" cy="457200"/>
          </a:xfrm>
          <a:prstGeom prst="rect">
            <a:avLst/>
          </a:prstGeom>
          <a:noFill/>
          <a:ln/>
        </p:spPr>
        <p:txBody>
          <a:bodyPr wrap="square" lIns="0" tIns="0" rIns="0" bIns="0" rtlCol="0" anchor="ctr"/>
          <a:lstStyle/>
          <a:p>
            <a:pPr indent="0" marL="0">
              <a:buNone/>
            </a:pPr>
            <a:r>
              <a:rPr lang="en-US" sz="1400" b="1" dirty="0">
                <a:solidFill>
                  <a:schemeClr val="tx1"/>
                </a:solidFill>
              </a:rPr>
              <a:t>Zhu et al. · AISTATS'20</a:t>
            </a:r>
            <a:endParaRPr lang="en-US" sz="1400" dirty="0"/>
          </a:p>
        </p:txBody>
      </p:sp>
      <p:sp>
        <p:nvSpPr>
          <p:cNvPr id="13" name="Text 11"/>
          <p:cNvSpPr txBox="1"/>
          <p:nvPr/>
        </p:nvSpPr>
        <p:spPr>
          <a:xfrm>
            <a:off x="3547872" y="2468880"/>
            <a:ext cx="2103120" cy="1325880"/>
          </a:xfrm>
          <a:prstGeom prst="rect">
            <a:avLst/>
          </a:prstGeom>
          <a:noFill/>
          <a:ln/>
        </p:spPr>
        <p:txBody>
          <a:bodyPr wrap="square" lIns="0" tIns="0" rIns="0" bIns="0" rtlCol="0" anchor="t"/>
          <a:lstStyle/>
          <a:p>
            <a:pPr indent="0" marL="0">
              <a:buNone/>
            </a:pPr>
            <a:r>
              <a:rPr lang="en-US" sz="1300" dirty="0">
                <a:solidFill>
                  <a:schemeClr val="tx2"/>
                </a:solidFill>
              </a:rPr>
              <a:t>TrieHH: find popular words letter by letter from sampled user votes; the sampling itself gives privacy.</a:t>
            </a:r>
            <a:endParaRPr lang="en-US" sz="1300" dirty="0"/>
          </a:p>
        </p:txBody>
      </p:sp>
      <p:sp>
        <p:nvSpPr>
          <p:cNvPr id="14" name="Text 12"/>
          <p:cNvSpPr txBox="1"/>
          <p:nvPr/>
        </p:nvSpPr>
        <p:spPr>
          <a:xfrm>
            <a:off x="3547872" y="3886200"/>
            <a:ext cx="2103120" cy="320040"/>
          </a:xfrm>
          <a:prstGeom prst="rect">
            <a:avLst/>
          </a:prstGeom>
          <a:noFill/>
          <a:ln/>
        </p:spPr>
        <p:txBody>
          <a:bodyPr wrap="square" lIns="0" tIns="0" rIns="0" bIns="0" rtlCol="0" anchor="ctr"/>
          <a:lstStyle/>
          <a:p>
            <a:pPr indent="0" marL="0">
              <a:buNone/>
            </a:pPr>
            <a:r>
              <a:rPr lang="en-US" sz="1200" b="1" dirty="0">
                <a:solidFill>
                  <a:schemeClr val="accent6"/>
                </a:solidFill>
              </a:rPr>
              <a:t>Reproduced on Sentiment140</a:t>
            </a:r>
            <a:endParaRPr lang="en-US" sz="1200" dirty="0"/>
          </a:p>
        </p:txBody>
      </p:sp>
      <p:sp>
        <p:nvSpPr>
          <p:cNvPr id="15" name="paper card 3"/>
          <p:cNvSpPr/>
          <p:nvPr/>
        </p:nvSpPr>
        <p:spPr>
          <a:xfrm>
            <a:off x="6089904" y="1188720"/>
            <a:ext cx="2606040" cy="3200400"/>
          </a:xfrm>
          <a:prstGeom prst="roundRect">
            <a:avLst>
              <a:gd name="adj" fmla="val 2807"/>
            </a:avLst>
          </a:prstGeom>
          <a:solidFill>
            <a:srgbClr val="F2F4F6"/>
          </a:solidFill>
          <a:ln w="12700">
            <a:solidFill>
              <a:srgbClr val="F2F4F6"/>
            </a:solidFill>
            <a:prstDash val="solid"/>
          </a:ln>
        </p:spPr>
      </p:sp>
      <p:sp>
        <p:nvSpPr>
          <p:cNvPr id="16" name="marker 3"/>
          <p:cNvSpPr/>
          <p:nvPr/>
        </p:nvSpPr>
        <p:spPr>
          <a:xfrm>
            <a:off x="6364224" y="1463040"/>
            <a:ext cx="384048" cy="384048"/>
          </a:xfrm>
          <a:prstGeom prst="ellipse">
            <a:avLst/>
          </a:prstGeom>
          <a:solidFill>
            <a:srgbClr val="8A94A6"/>
          </a:solidFill>
          <a:ln w="12700">
            <a:solidFill>
              <a:srgbClr val="8A94A6"/>
            </a:solidFill>
            <a:prstDash val="solid"/>
          </a:ln>
        </p:spPr>
      </p:sp>
      <p:sp>
        <p:nvSpPr>
          <p:cNvPr id="17" name="Text 15"/>
          <p:cNvSpPr txBox="1"/>
          <p:nvPr/>
        </p:nvSpPr>
        <p:spPr>
          <a:xfrm>
            <a:off x="6364224"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6364224" y="1965960"/>
            <a:ext cx="2240280" cy="457200"/>
          </a:xfrm>
          <a:prstGeom prst="rect">
            <a:avLst/>
          </a:prstGeom>
          <a:noFill/>
          <a:ln/>
        </p:spPr>
        <p:txBody>
          <a:bodyPr wrap="square" lIns="0" tIns="0" rIns="0" bIns="0" rtlCol="0" anchor="ctr"/>
          <a:lstStyle/>
          <a:p>
            <a:pPr indent="0" marL="0">
              <a:buNone/>
            </a:pPr>
            <a:r>
              <a:rPr lang="en-US" sz="1400" b="1" dirty="0">
                <a:solidFill>
                  <a:schemeClr val="tx1"/>
                </a:solidFill>
              </a:rPr>
              <a:t>Gascón et al. · ICML-W'23</a:t>
            </a:r>
            <a:endParaRPr lang="en-US" sz="1400" dirty="0"/>
          </a:p>
        </p:txBody>
      </p:sp>
      <p:sp>
        <p:nvSpPr>
          <p:cNvPr id="19" name="Text 17"/>
          <p:cNvSpPr txBox="1"/>
          <p:nvPr/>
        </p:nvSpPr>
        <p:spPr>
          <a:xfrm>
            <a:off x="6364224" y="2468880"/>
            <a:ext cx="2103120" cy="1325880"/>
          </a:xfrm>
          <a:prstGeom prst="rect">
            <a:avLst/>
          </a:prstGeom>
          <a:noFill/>
          <a:ln/>
        </p:spPr>
        <p:txBody>
          <a:bodyPr wrap="square" lIns="0" tIns="0" rIns="0" bIns="0" rtlCol="0" anchor="t"/>
          <a:lstStyle/>
          <a:p>
            <a:pPr indent="0" marL="0">
              <a:buNone/>
            </a:pPr>
            <a:r>
              <a:rPr lang="en-US" sz="1300" dirty="0">
                <a:solidFill>
                  <a:schemeClr val="tx2"/>
                </a:solidFill>
              </a:rPr>
              <a:t>An invertible table (IBLT) lists the popular items directly, so no candidate list is needed.</a:t>
            </a:r>
            <a:endParaRPr lang="en-US" sz="1300" dirty="0"/>
          </a:p>
        </p:txBody>
      </p:sp>
      <p:sp>
        <p:nvSpPr>
          <p:cNvPr id="20" name="Text 18"/>
          <p:cNvSpPr txBox="1"/>
          <p:nvPr/>
        </p:nvSpPr>
        <p:spPr>
          <a:xfrm>
            <a:off x="6364224" y="3886200"/>
            <a:ext cx="2103120" cy="320040"/>
          </a:xfrm>
          <a:prstGeom prst="rect">
            <a:avLst/>
          </a:prstGeom>
          <a:noFill/>
          <a:ln/>
        </p:spPr>
        <p:txBody>
          <a:bodyPr wrap="square" lIns="0" tIns="0" rIns="0" bIns="0" rtlCol="0" anchor="ctr"/>
          <a:lstStyle/>
          <a:p>
            <a:pPr indent="0" marL="0">
              <a:buNone/>
            </a:pPr>
            <a:r>
              <a:rPr lang="en-US" sz="1200" b="1" dirty="0">
                <a:solidFill>
                  <a:schemeClr val="accent6"/>
                </a:solidFill>
              </a:rPr>
              <a:t>Built in and compared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Raw events never leave the edge</a:t>
            </a:r>
            <a:endParaRPr lang="en-US" sz="3000" dirty="0"/>
          </a:p>
        </p:txBody>
      </p:sp>
      <p:sp>
        <p:nvSpPr>
          <p:cNvPr id="3" name="raw data zone"/>
          <p:cNvSpPr/>
          <p:nvPr/>
        </p:nvSpPr>
        <p:spPr>
          <a:xfrm>
            <a:off x="320040" y="987552"/>
            <a:ext cx="6355080" cy="1325880"/>
          </a:xfrm>
          <a:prstGeom prst="roundRect">
            <a:avLst>
              <a:gd name="adj" fmla="val 5517"/>
            </a:avLst>
          </a:prstGeom>
          <a:solidFill>
            <a:srgbClr val="F2F4F6"/>
          </a:solidFill>
          <a:ln w="12700">
            <a:solidFill>
              <a:srgbClr val="F2F4F6"/>
            </a:solidFill>
            <a:prstDash val="solid"/>
          </a:ln>
        </p:spPr>
      </p:sp>
      <p:sp>
        <p:nvSpPr>
          <p:cNvPr id="4" name="Text 2"/>
          <p:cNvSpPr txBox="1"/>
          <p:nvPr/>
        </p:nvSpPr>
        <p:spPr>
          <a:xfrm>
            <a:off x="457200" y="1005840"/>
            <a:ext cx="3657600" cy="228600"/>
          </a:xfrm>
          <a:prstGeom prst="rect">
            <a:avLst/>
          </a:prstGeom>
          <a:noFill/>
          <a:ln/>
        </p:spPr>
        <p:txBody>
          <a:bodyPr wrap="square" lIns="0" tIns="0" rIns="0" bIns="0" rtlCol="0" anchor="ctr"/>
          <a:lstStyle/>
          <a:p>
            <a:pPr indent="0" marL="0">
              <a:buNone/>
            </a:pPr>
            <a:r>
              <a:rPr lang="en-US" sz="1100" i="1" dirty="0">
                <a:solidFill>
                  <a:schemeClr val="accent6"/>
                </a:solidFill>
              </a:rPr>
              <a:t>raw data exists only inside this zone</a:t>
            </a:r>
            <a:endParaRPr lang="en-US" sz="1100" dirty="0"/>
          </a:p>
        </p:txBody>
      </p:sp>
      <p:sp>
        <p:nvSpPr>
          <p:cNvPr id="5" name="box Producer"/>
          <p:cNvSpPr/>
          <p:nvPr/>
        </p:nvSpPr>
        <p:spPr>
          <a:xfrm>
            <a:off x="457200" y="1280160"/>
            <a:ext cx="1828800" cy="868680"/>
          </a:xfrm>
          <a:prstGeom prst="roundRect">
            <a:avLst>
              <a:gd name="adj" fmla="val 8421"/>
            </a:avLst>
          </a:prstGeom>
          <a:solidFill>
            <a:srgbClr val="FFFFFF"/>
          </a:solidFill>
          <a:ln w="12700">
            <a:solidFill>
              <a:srgbClr val="8A94A6"/>
            </a:solidFill>
            <a:prstDash val="solid"/>
          </a:ln>
        </p:spPr>
      </p:sp>
      <p:sp>
        <p:nvSpPr>
          <p:cNvPr id="6" name="Text 4"/>
          <p:cNvSpPr txBox="1"/>
          <p:nvPr/>
        </p:nvSpPr>
        <p:spPr>
          <a:xfrm>
            <a:off x="457200" y="128016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Producer</a:t>
            </a:r>
            <a:endParaRPr lang="en-US" sz="1300" dirty="0"/>
          </a:p>
          <a:p>
            <a:pPr algn="ctr" indent="0" marL="0">
              <a:buNone/>
            </a:pPr>
            <a:r>
              <a:rPr lang="en-US" sz="1100" dirty="0">
                <a:solidFill>
                  <a:schemeClr val="tx2"/>
                </a:solidFill>
              </a:rPr>
              <a:t>replays real data in time order</a:t>
            </a:r>
            <a:endParaRPr lang="en-US" sz="1300" dirty="0"/>
          </a:p>
        </p:txBody>
      </p:sp>
      <p:sp>
        <p:nvSpPr>
          <p:cNvPr id="7" name="box Kafka events"/>
          <p:cNvSpPr/>
          <p:nvPr/>
        </p:nvSpPr>
        <p:spPr>
          <a:xfrm>
            <a:off x="2606040" y="1280160"/>
            <a:ext cx="1828800" cy="868680"/>
          </a:xfrm>
          <a:prstGeom prst="roundRect">
            <a:avLst>
              <a:gd name="adj" fmla="val 8421"/>
            </a:avLst>
          </a:prstGeom>
          <a:solidFill>
            <a:srgbClr val="FFFFFF"/>
          </a:solidFill>
          <a:ln w="12700">
            <a:solidFill>
              <a:srgbClr val="8A94A6"/>
            </a:solidFill>
            <a:prstDash val="solid"/>
          </a:ln>
        </p:spPr>
      </p:sp>
      <p:sp>
        <p:nvSpPr>
          <p:cNvPr id="8" name="Text 6"/>
          <p:cNvSpPr txBox="1"/>
          <p:nvPr/>
        </p:nvSpPr>
        <p:spPr>
          <a:xfrm>
            <a:off x="2606040" y="128016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Kafka events</a:t>
            </a:r>
            <a:endParaRPr lang="en-US" sz="1300" dirty="0"/>
          </a:p>
          <a:p>
            <a:pPr algn="ctr" indent="0" marL="0">
              <a:buNone/>
            </a:pPr>
            <a:r>
              <a:rPr lang="en-US" sz="1100" dirty="0">
                <a:solidFill>
                  <a:schemeClr val="tx2"/>
                </a:solidFill>
              </a:rPr>
              <a:t>one lane per edge</a:t>
            </a:r>
            <a:endParaRPr lang="en-US" sz="1300" dirty="0"/>
          </a:p>
        </p:txBody>
      </p:sp>
      <p:sp>
        <p:nvSpPr>
          <p:cNvPr id="9" name="box 8 Flower edges"/>
          <p:cNvSpPr/>
          <p:nvPr/>
        </p:nvSpPr>
        <p:spPr>
          <a:xfrm>
            <a:off x="4754880" y="1280160"/>
            <a:ext cx="1828800" cy="868680"/>
          </a:xfrm>
          <a:prstGeom prst="roundRect">
            <a:avLst>
              <a:gd name="adj" fmla="val 8421"/>
            </a:avLst>
          </a:prstGeom>
          <a:solidFill>
            <a:srgbClr val="D6EEE7"/>
          </a:solidFill>
          <a:ln w="25400">
            <a:solidFill>
              <a:srgbClr val="1F8A70"/>
            </a:solidFill>
            <a:prstDash val="solid"/>
          </a:ln>
        </p:spPr>
      </p:sp>
      <p:sp>
        <p:nvSpPr>
          <p:cNvPr id="10" name="Text 8"/>
          <p:cNvSpPr txBox="1"/>
          <p:nvPr/>
        </p:nvSpPr>
        <p:spPr>
          <a:xfrm>
            <a:off x="4754880" y="128016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8 Flower edges</a:t>
            </a:r>
            <a:endParaRPr lang="en-US" sz="1300" dirty="0"/>
          </a:p>
          <a:p>
            <a:pPr algn="ctr" indent="0" marL="0">
              <a:buNone/>
            </a:pPr>
            <a:r>
              <a:rPr lang="en-US" sz="1100" dirty="0">
                <a:solidFill>
                  <a:schemeClr val="tx2"/>
                </a:solidFill>
              </a:rPr>
              <a:t>sketch + noise + mask</a:t>
            </a:r>
            <a:endParaRPr lang="en-US" sz="1300" dirty="0"/>
          </a:p>
        </p:txBody>
      </p:sp>
      <p:sp>
        <p:nvSpPr>
          <p:cNvPr id="11" name="box Flower server"/>
          <p:cNvSpPr/>
          <p:nvPr/>
        </p:nvSpPr>
        <p:spPr>
          <a:xfrm>
            <a:off x="6903720" y="1280160"/>
            <a:ext cx="1828800" cy="868680"/>
          </a:xfrm>
          <a:prstGeom prst="roundRect">
            <a:avLst>
              <a:gd name="adj" fmla="val 8421"/>
            </a:avLst>
          </a:prstGeom>
          <a:solidFill>
            <a:srgbClr val="FFFFFF"/>
          </a:solidFill>
          <a:ln w="12700">
            <a:solidFill>
              <a:srgbClr val="8A94A6"/>
            </a:solidFill>
            <a:prstDash val="solid"/>
          </a:ln>
        </p:spPr>
      </p:sp>
      <p:sp>
        <p:nvSpPr>
          <p:cNvPr id="12" name="Text 10"/>
          <p:cNvSpPr txBox="1"/>
          <p:nvPr/>
        </p:nvSpPr>
        <p:spPr>
          <a:xfrm>
            <a:off x="6903720" y="128016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Flower server</a:t>
            </a:r>
            <a:endParaRPr lang="en-US" sz="1300" dirty="0"/>
          </a:p>
          <a:p>
            <a:pPr algn="ctr" indent="0" marL="0">
              <a:buNone/>
            </a:pPr>
            <a:r>
              <a:rPr lang="en-US" sz="1100" dirty="0">
                <a:solidFill>
                  <a:schemeClr val="tx2"/>
                </a:solidFill>
              </a:rPr>
              <a:t>sums uploads, masks cancel</a:t>
            </a:r>
            <a:endParaRPr lang="en-US" sz="1300" dirty="0"/>
          </a:p>
        </p:txBody>
      </p:sp>
      <p:sp>
        <p:nvSpPr>
          <p:cNvPr id="13" name="box Kafka releases"/>
          <p:cNvSpPr/>
          <p:nvPr/>
        </p:nvSpPr>
        <p:spPr>
          <a:xfrm>
            <a:off x="6903720" y="2926080"/>
            <a:ext cx="1828800" cy="868680"/>
          </a:xfrm>
          <a:prstGeom prst="roundRect">
            <a:avLst>
              <a:gd name="adj" fmla="val 8421"/>
            </a:avLst>
          </a:prstGeom>
          <a:solidFill>
            <a:srgbClr val="FFFFFF"/>
          </a:solidFill>
          <a:ln w="12700">
            <a:solidFill>
              <a:srgbClr val="8A94A6"/>
            </a:solidFill>
            <a:prstDash val="solid"/>
          </a:ln>
        </p:spPr>
      </p:sp>
      <p:sp>
        <p:nvSpPr>
          <p:cNvPr id="14" name="Text 12"/>
          <p:cNvSpPr txBox="1"/>
          <p:nvPr/>
        </p:nvSpPr>
        <p:spPr>
          <a:xfrm>
            <a:off x="6903720" y="292608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Kafka releases</a:t>
            </a:r>
            <a:endParaRPr lang="en-US" sz="1300" dirty="0"/>
          </a:p>
          <a:p>
            <a:pPr algn="ctr" indent="0" marL="0">
              <a:buNone/>
            </a:pPr>
            <a:r>
              <a:rPr lang="en-US" sz="1100" dirty="0">
                <a:solidFill>
                  <a:schemeClr val="tx2"/>
                </a:solidFill>
              </a:rPr>
              <a:t>top-50 per window</a:t>
            </a:r>
            <a:endParaRPr lang="en-US" sz="1300" dirty="0"/>
          </a:p>
        </p:txBody>
      </p:sp>
      <p:sp>
        <p:nvSpPr>
          <p:cNvPr id="15" name="box Evaluator"/>
          <p:cNvSpPr/>
          <p:nvPr/>
        </p:nvSpPr>
        <p:spPr>
          <a:xfrm>
            <a:off x="4754880" y="2926080"/>
            <a:ext cx="1828800" cy="868680"/>
          </a:xfrm>
          <a:prstGeom prst="roundRect">
            <a:avLst>
              <a:gd name="adj" fmla="val 8421"/>
            </a:avLst>
          </a:prstGeom>
          <a:solidFill>
            <a:srgbClr val="FFFFFF"/>
          </a:solidFill>
          <a:ln w="12700">
            <a:solidFill>
              <a:srgbClr val="8A94A6"/>
            </a:solidFill>
            <a:prstDash val="solid"/>
          </a:ln>
        </p:spPr>
      </p:sp>
      <p:sp>
        <p:nvSpPr>
          <p:cNvPr id="16" name="Text 14"/>
          <p:cNvSpPr txBox="1"/>
          <p:nvPr/>
        </p:nvSpPr>
        <p:spPr>
          <a:xfrm>
            <a:off x="4754880" y="292608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Evaluator</a:t>
            </a:r>
            <a:endParaRPr lang="en-US" sz="1300" dirty="0"/>
          </a:p>
          <a:p>
            <a:pPr algn="ctr" indent="0" marL="0">
              <a:buNone/>
            </a:pPr>
            <a:r>
              <a:rPr lang="en-US" sz="1100" dirty="0">
                <a:solidFill>
                  <a:schemeClr val="tx2"/>
                </a:solidFill>
              </a:rPr>
              <a:t>scores vs exact truth</a:t>
            </a:r>
            <a:endParaRPr lang="en-US" sz="1300" dirty="0"/>
          </a:p>
        </p:txBody>
      </p:sp>
      <p:sp>
        <p:nvSpPr>
          <p:cNvPr id="17" name="box InfluxDB"/>
          <p:cNvSpPr/>
          <p:nvPr/>
        </p:nvSpPr>
        <p:spPr>
          <a:xfrm>
            <a:off x="2606040" y="2926080"/>
            <a:ext cx="1828800" cy="868680"/>
          </a:xfrm>
          <a:prstGeom prst="roundRect">
            <a:avLst>
              <a:gd name="adj" fmla="val 8421"/>
            </a:avLst>
          </a:prstGeom>
          <a:solidFill>
            <a:srgbClr val="FFFFFF"/>
          </a:solidFill>
          <a:ln w="12700">
            <a:solidFill>
              <a:srgbClr val="8A94A6"/>
            </a:solidFill>
            <a:prstDash val="solid"/>
          </a:ln>
        </p:spPr>
      </p:sp>
      <p:sp>
        <p:nvSpPr>
          <p:cNvPr id="18" name="Text 16"/>
          <p:cNvSpPr txBox="1"/>
          <p:nvPr/>
        </p:nvSpPr>
        <p:spPr>
          <a:xfrm>
            <a:off x="2606040" y="292608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InfluxDB</a:t>
            </a:r>
            <a:endParaRPr lang="en-US" sz="1300" dirty="0"/>
          </a:p>
          <a:p>
            <a:pPr algn="ctr" indent="0" marL="0">
              <a:buNone/>
            </a:pPr>
            <a:r>
              <a:rPr lang="en-US" sz="1100" dirty="0">
                <a:solidFill>
                  <a:schemeClr val="tx2"/>
                </a:solidFill>
              </a:rPr>
              <a:t>stores scores, metrics</a:t>
            </a:r>
            <a:endParaRPr lang="en-US" sz="1300" dirty="0"/>
          </a:p>
        </p:txBody>
      </p:sp>
      <p:sp>
        <p:nvSpPr>
          <p:cNvPr id="19" name="box Grafana"/>
          <p:cNvSpPr/>
          <p:nvPr/>
        </p:nvSpPr>
        <p:spPr>
          <a:xfrm>
            <a:off x="457200" y="2926080"/>
            <a:ext cx="1828800" cy="868680"/>
          </a:xfrm>
          <a:prstGeom prst="roundRect">
            <a:avLst>
              <a:gd name="adj" fmla="val 8421"/>
            </a:avLst>
          </a:prstGeom>
          <a:solidFill>
            <a:srgbClr val="FFFFFF"/>
          </a:solidFill>
          <a:ln w="12700">
            <a:solidFill>
              <a:srgbClr val="8A94A6"/>
            </a:solidFill>
            <a:prstDash val="solid"/>
          </a:ln>
        </p:spPr>
      </p:sp>
      <p:sp>
        <p:nvSpPr>
          <p:cNvPr id="20" name="Text 18"/>
          <p:cNvSpPr txBox="1"/>
          <p:nvPr/>
        </p:nvSpPr>
        <p:spPr>
          <a:xfrm>
            <a:off x="457200" y="2926080"/>
            <a:ext cx="1828800" cy="868680"/>
          </a:xfrm>
          <a:prstGeom prst="rect">
            <a:avLst/>
          </a:prstGeom>
          <a:noFill/>
          <a:ln/>
        </p:spPr>
        <p:txBody>
          <a:bodyPr wrap="square" lIns="50800" tIns="50800" rIns="50800" bIns="50800" rtlCol="0" anchor="ctr"/>
          <a:lstStyle/>
          <a:p>
            <a:pPr algn="ctr" indent="0" marL="0">
              <a:buNone/>
            </a:pPr>
            <a:r>
              <a:rPr lang="en-US" sz="1300" b="1" dirty="0">
                <a:solidFill>
                  <a:schemeClr val="tx1"/>
                </a:solidFill>
              </a:rPr>
              <a:t>Grafana</a:t>
            </a:r>
            <a:endParaRPr lang="en-US" sz="1300" dirty="0"/>
          </a:p>
          <a:p>
            <a:pPr algn="ctr" indent="0" marL="0">
              <a:buNone/>
            </a:pPr>
            <a:r>
              <a:rPr lang="en-US" sz="1100" dirty="0">
                <a:solidFill>
                  <a:schemeClr val="tx2"/>
                </a:solidFill>
              </a:rPr>
              <a:t>live dashboard</a:t>
            </a:r>
            <a:endParaRPr lang="en-US" sz="1300" dirty="0"/>
          </a:p>
        </p:txBody>
      </p:sp>
      <p:sp>
        <p:nvSpPr>
          <p:cNvPr id="21" name="arrow"/>
          <p:cNvSpPr/>
          <p:nvPr/>
        </p:nvSpPr>
        <p:spPr>
          <a:xfrm>
            <a:off x="2286000" y="1714500"/>
            <a:ext cx="320040" cy="0"/>
          </a:xfrm>
          <a:prstGeom prst="line">
            <a:avLst/>
          </a:prstGeom>
          <a:noFill/>
          <a:ln w="19050">
            <a:solidFill>
              <a:srgbClr val="4A5263"/>
            </a:solidFill>
            <a:prstDash val="solid"/>
            <a:tailEnd type="triangle"/>
          </a:ln>
        </p:spPr>
      </p:sp>
      <p:sp>
        <p:nvSpPr>
          <p:cNvPr id="22" name="arrow"/>
          <p:cNvSpPr/>
          <p:nvPr/>
        </p:nvSpPr>
        <p:spPr>
          <a:xfrm>
            <a:off x="4434840" y="1714500"/>
            <a:ext cx="320040" cy="0"/>
          </a:xfrm>
          <a:prstGeom prst="line">
            <a:avLst/>
          </a:prstGeom>
          <a:noFill/>
          <a:ln w="19050">
            <a:solidFill>
              <a:srgbClr val="4A5263"/>
            </a:solidFill>
            <a:prstDash val="solid"/>
            <a:tailEnd type="triangle"/>
          </a:ln>
        </p:spPr>
      </p:sp>
      <p:sp>
        <p:nvSpPr>
          <p:cNvPr id="23" name="arrow"/>
          <p:cNvSpPr/>
          <p:nvPr/>
        </p:nvSpPr>
        <p:spPr>
          <a:xfrm>
            <a:off x="6583680" y="1714500"/>
            <a:ext cx="320040" cy="0"/>
          </a:xfrm>
          <a:prstGeom prst="line">
            <a:avLst/>
          </a:prstGeom>
          <a:noFill/>
          <a:ln w="19050">
            <a:solidFill>
              <a:srgbClr val="4A5263"/>
            </a:solidFill>
            <a:prstDash val="solid"/>
            <a:tailEnd type="triangle"/>
          </a:ln>
        </p:spPr>
      </p:sp>
      <p:sp>
        <p:nvSpPr>
          <p:cNvPr id="24" name="arrow"/>
          <p:cNvSpPr/>
          <p:nvPr/>
        </p:nvSpPr>
        <p:spPr>
          <a:xfrm>
            <a:off x="7818120" y="2148840"/>
            <a:ext cx="0" cy="777240"/>
          </a:xfrm>
          <a:prstGeom prst="line">
            <a:avLst/>
          </a:prstGeom>
          <a:noFill/>
          <a:ln w="19050">
            <a:solidFill>
              <a:srgbClr val="4A5263"/>
            </a:solidFill>
            <a:prstDash val="solid"/>
            <a:tailEnd type="triangle"/>
          </a:ln>
        </p:spPr>
      </p:sp>
      <p:sp>
        <p:nvSpPr>
          <p:cNvPr id="25" name="arrow"/>
          <p:cNvSpPr/>
          <p:nvPr/>
        </p:nvSpPr>
        <p:spPr>
          <a:xfrm flipH="1">
            <a:off x="6583680" y="3360420"/>
            <a:ext cx="320040" cy="0"/>
          </a:xfrm>
          <a:prstGeom prst="line">
            <a:avLst/>
          </a:prstGeom>
          <a:noFill/>
          <a:ln w="19050">
            <a:solidFill>
              <a:srgbClr val="4A5263"/>
            </a:solidFill>
            <a:prstDash val="solid"/>
            <a:tailEnd type="triangle"/>
          </a:ln>
        </p:spPr>
      </p:sp>
      <p:sp>
        <p:nvSpPr>
          <p:cNvPr id="26" name="arrow"/>
          <p:cNvSpPr/>
          <p:nvPr/>
        </p:nvSpPr>
        <p:spPr>
          <a:xfrm flipH="1">
            <a:off x="4434840" y="3360420"/>
            <a:ext cx="320040" cy="0"/>
          </a:xfrm>
          <a:prstGeom prst="line">
            <a:avLst/>
          </a:prstGeom>
          <a:noFill/>
          <a:ln w="19050">
            <a:solidFill>
              <a:srgbClr val="4A5263"/>
            </a:solidFill>
            <a:prstDash val="solid"/>
            <a:tailEnd type="triangle"/>
          </a:ln>
        </p:spPr>
      </p:sp>
      <p:sp>
        <p:nvSpPr>
          <p:cNvPr id="27" name="arrow"/>
          <p:cNvSpPr/>
          <p:nvPr/>
        </p:nvSpPr>
        <p:spPr>
          <a:xfrm flipH="1">
            <a:off x="2286000" y="3360420"/>
            <a:ext cx="320040" cy="0"/>
          </a:xfrm>
          <a:prstGeom prst="line">
            <a:avLst/>
          </a:prstGeom>
          <a:noFill/>
          <a:ln w="19050">
            <a:solidFill>
              <a:srgbClr val="4A5263"/>
            </a:solidFill>
            <a:prstDash val="solid"/>
            <a:tailEnd type="triangle"/>
          </a:ln>
        </p:spPr>
      </p:sp>
      <p:sp>
        <p:nvSpPr>
          <p:cNvPr id="28" name="truth 1"/>
          <p:cNvSpPr/>
          <p:nvPr/>
        </p:nvSpPr>
        <p:spPr>
          <a:xfrm>
            <a:off x="3520440" y="2148840"/>
            <a:ext cx="0" cy="384048"/>
          </a:xfrm>
          <a:prstGeom prst="line">
            <a:avLst/>
          </a:prstGeom>
          <a:noFill/>
          <a:ln w="15875">
            <a:solidFill>
              <a:srgbClr val="6B7A8F"/>
            </a:solidFill>
            <a:prstDash val="dash"/>
          </a:ln>
        </p:spPr>
      </p:sp>
      <p:sp>
        <p:nvSpPr>
          <p:cNvPr id="29" name="truth 2"/>
          <p:cNvSpPr/>
          <p:nvPr/>
        </p:nvSpPr>
        <p:spPr>
          <a:xfrm>
            <a:off x="3520440" y="2532888"/>
            <a:ext cx="2148840" cy="0"/>
          </a:xfrm>
          <a:prstGeom prst="line">
            <a:avLst/>
          </a:prstGeom>
          <a:noFill/>
          <a:ln w="15875">
            <a:solidFill>
              <a:srgbClr val="6B7A8F"/>
            </a:solidFill>
            <a:prstDash val="dash"/>
          </a:ln>
        </p:spPr>
      </p:sp>
      <p:sp>
        <p:nvSpPr>
          <p:cNvPr id="30" name="truth 3"/>
          <p:cNvSpPr/>
          <p:nvPr/>
        </p:nvSpPr>
        <p:spPr>
          <a:xfrm>
            <a:off x="5669280" y="2532888"/>
            <a:ext cx="0" cy="393192"/>
          </a:xfrm>
          <a:prstGeom prst="line">
            <a:avLst/>
          </a:prstGeom>
          <a:noFill/>
          <a:ln w="15875">
            <a:solidFill>
              <a:srgbClr val="6B7A8F"/>
            </a:solidFill>
            <a:prstDash val="dash"/>
            <a:tailEnd type="triangle"/>
          </a:ln>
        </p:spPr>
      </p:sp>
      <p:sp>
        <p:nvSpPr>
          <p:cNvPr id="31" name="Text 29"/>
          <p:cNvSpPr txBox="1"/>
          <p:nvPr/>
        </p:nvSpPr>
        <p:spPr>
          <a:xfrm>
            <a:off x="3611880" y="2578608"/>
            <a:ext cx="2377440" cy="228600"/>
          </a:xfrm>
          <a:prstGeom prst="rect">
            <a:avLst/>
          </a:prstGeom>
          <a:noFill/>
          <a:ln/>
        </p:spPr>
        <p:txBody>
          <a:bodyPr wrap="square" lIns="0" tIns="0" rIns="0" bIns="0" rtlCol="0" anchor="ctr"/>
          <a:lstStyle/>
          <a:p>
            <a:pPr indent="0" marL="0">
              <a:buNone/>
            </a:pPr>
            <a:r>
              <a:rPr lang="en-US" sz="1100" i="1" dirty="0">
                <a:solidFill>
                  <a:schemeClr val="accent6"/>
                </a:solidFill>
              </a:rPr>
              <a:t>ground truth, for grading only</a:t>
            </a:r>
            <a:endParaRPr lang="en-US" sz="1100" dirty="0"/>
          </a:p>
        </p:txBody>
      </p:sp>
      <p:sp>
        <p:nvSpPr>
          <p:cNvPr id="32" name="Text 30"/>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400" dirty="0">
                <a:solidFill>
                  <a:schemeClr val="tx2"/>
                </a:solidFill>
              </a:rPr>
              <a:t>Each round: edges sketch their users' items, add a share of the privacy noise and a cancelling mask. The server only ever sees the noisy total.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Five switchable stream extensions</a:t>
            </a:r>
            <a:endParaRPr lang="en-US" sz="3000" dirty="0"/>
          </a:p>
        </p:txBody>
      </p:sp>
      <p:sp>
        <p:nvSpPr>
          <p:cNvPr id="3" name="marker a"/>
          <p:cNvSpPr/>
          <p:nvPr/>
        </p:nvSpPr>
        <p:spPr>
          <a:xfrm>
            <a:off x="457200" y="1143000"/>
            <a:ext cx="384048" cy="384048"/>
          </a:xfrm>
          <a:prstGeom prst="ellipse">
            <a:avLst/>
          </a:prstGeom>
          <a:solidFill>
            <a:srgbClr val="1F8A70"/>
          </a:solidFill>
          <a:ln w="12700">
            <a:solidFill>
              <a:srgbClr val="1F8A70"/>
            </a:solidFill>
            <a:prstDash val="solid"/>
          </a:ln>
        </p:spPr>
      </p:sp>
      <p:sp>
        <p:nvSpPr>
          <p:cNvPr id="4" name="Text 2"/>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5" name="Text 3"/>
          <p:cNvSpPr txBox="1"/>
          <p:nvPr/>
        </p:nvSpPr>
        <p:spPr>
          <a:xfrm>
            <a:off x="1005840" y="1106424"/>
            <a:ext cx="4389120" cy="457200"/>
          </a:xfrm>
          <a:prstGeom prst="rect">
            <a:avLst/>
          </a:prstGeom>
          <a:noFill/>
          <a:ln/>
        </p:spPr>
        <p:txBody>
          <a:bodyPr wrap="square" lIns="0" tIns="0" rIns="0" bIns="0" rtlCol="0" anchor="ctr"/>
          <a:lstStyle/>
          <a:p>
            <a:pPr indent="0" marL="0">
              <a:buNone/>
            </a:pPr>
            <a:r>
              <a:rPr lang="en-US" sz="1400" b="1" dirty="0">
                <a:solidFill>
                  <a:schemeClr val="tx1"/>
                </a:solidFill>
              </a:rPr>
              <a:t>Tree release  </a:t>
            </a:r>
            <a:pPr indent="0" marL="0">
              <a:buNone/>
            </a:pPr>
            <a:r>
              <a:rPr lang="en-US" sz="1400" dirty="0">
                <a:solidFill>
                  <a:schemeClr val="tx2"/>
                </a:solidFill>
              </a:rPr>
              <a:t>long totals need only a few noisy pieces</a:t>
            </a:r>
            <a:endParaRPr lang="en-US" sz="1400" dirty="0"/>
          </a:p>
        </p:txBody>
      </p:sp>
      <p:sp>
        <p:nvSpPr>
          <p:cNvPr id="6" name="marker b"/>
          <p:cNvSpPr/>
          <p:nvPr/>
        </p:nvSpPr>
        <p:spPr>
          <a:xfrm>
            <a:off x="457200" y="1801368"/>
            <a:ext cx="384048" cy="384048"/>
          </a:xfrm>
          <a:prstGeom prst="ellipse">
            <a:avLst/>
          </a:prstGeom>
          <a:solidFill>
            <a:srgbClr val="1F8A70"/>
          </a:solidFill>
          <a:ln w="12700">
            <a:solidFill>
              <a:srgbClr val="1F8A70"/>
            </a:solidFill>
            <a:prstDash val="solid"/>
          </a:ln>
        </p:spPr>
      </p:sp>
      <p:sp>
        <p:nvSpPr>
          <p:cNvPr id="7" name="Text 5"/>
          <p:cNvSpPr txBox="1"/>
          <p:nvPr/>
        </p:nvSpPr>
        <p:spPr>
          <a:xfrm>
            <a:off x="457200" y="18013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8" name="Text 6"/>
          <p:cNvSpPr txBox="1"/>
          <p:nvPr/>
        </p:nvSpPr>
        <p:spPr>
          <a:xfrm>
            <a:off x="1005840" y="1764792"/>
            <a:ext cx="4389120" cy="457200"/>
          </a:xfrm>
          <a:prstGeom prst="rect">
            <a:avLst/>
          </a:prstGeom>
          <a:noFill/>
          <a:ln/>
        </p:spPr>
        <p:txBody>
          <a:bodyPr wrap="square" lIns="0" tIns="0" rIns="0" bIns="0" rtlCol="0" anchor="ctr"/>
          <a:lstStyle/>
          <a:p>
            <a:pPr indent="0" marL="0">
              <a:buNone/>
            </a:pPr>
            <a:r>
              <a:rPr lang="en-US" sz="1400" b="1" dirty="0">
                <a:solidFill>
                  <a:schemeClr val="tx1"/>
                </a:solidFill>
              </a:rPr>
              <a:t>Peeling  </a:t>
            </a:r>
            <a:pPr indent="0" marL="0">
              <a:buNone/>
            </a:pPr>
            <a:r>
              <a:rPr lang="en-US" sz="1400" dirty="0">
                <a:solidFill>
                  <a:schemeClr val="tx2"/>
                </a:solidFill>
              </a:rPr>
              <a:t>remove heavy items so they stop polluting</a:t>
            </a:r>
            <a:endParaRPr lang="en-US" sz="1400" dirty="0"/>
          </a:p>
        </p:txBody>
      </p:sp>
      <p:sp>
        <p:nvSpPr>
          <p:cNvPr id="9" name="marker c"/>
          <p:cNvSpPr/>
          <p:nvPr/>
        </p:nvSpPr>
        <p:spPr>
          <a:xfrm>
            <a:off x="457200" y="2459736"/>
            <a:ext cx="384048" cy="384048"/>
          </a:xfrm>
          <a:prstGeom prst="ellipse">
            <a:avLst/>
          </a:prstGeom>
          <a:solidFill>
            <a:srgbClr val="1F8A70"/>
          </a:solidFill>
          <a:ln w="12700">
            <a:solidFill>
              <a:srgbClr val="1F8A70"/>
            </a:solidFill>
            <a:prstDash val="solid"/>
          </a:ln>
        </p:spPr>
      </p:sp>
      <p:sp>
        <p:nvSpPr>
          <p:cNvPr id="10" name="Text 8"/>
          <p:cNvSpPr txBox="1"/>
          <p:nvPr/>
        </p:nvSpPr>
        <p:spPr>
          <a:xfrm>
            <a:off x="457200" y="2459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1" name="Text 9"/>
          <p:cNvSpPr txBox="1"/>
          <p:nvPr/>
        </p:nvSpPr>
        <p:spPr>
          <a:xfrm>
            <a:off x="1005840" y="2423160"/>
            <a:ext cx="4389120" cy="457200"/>
          </a:xfrm>
          <a:prstGeom prst="rect">
            <a:avLst/>
          </a:prstGeom>
          <a:noFill/>
          <a:ln/>
        </p:spPr>
        <p:txBody>
          <a:bodyPr wrap="square" lIns="0" tIns="0" rIns="0" bIns="0" rtlCol="0" anchor="ctr"/>
          <a:lstStyle/>
          <a:p>
            <a:pPr indent="0" marL="0">
              <a:buNone/>
            </a:pPr>
            <a:r>
              <a:rPr lang="en-US" sz="1400" b="1" dirty="0">
                <a:solidFill>
                  <a:schemeClr val="tx1"/>
                </a:solidFill>
              </a:rPr>
              <a:t>Adaptive width  </a:t>
            </a:r>
            <a:pPr indent="0" marL="0">
              <a:buNone/>
            </a:pPr>
            <a:r>
              <a:rPr lang="en-US" sz="1400" dirty="0">
                <a:solidFill>
                  <a:schemeClr val="tx2"/>
                </a:solidFill>
              </a:rPr>
              <a:t>smallest accurate sketch each round</a:t>
            </a:r>
            <a:endParaRPr lang="en-US" sz="1400" dirty="0"/>
          </a:p>
        </p:txBody>
      </p:sp>
      <p:sp>
        <p:nvSpPr>
          <p:cNvPr id="12" name="marker d"/>
          <p:cNvSpPr/>
          <p:nvPr/>
        </p:nvSpPr>
        <p:spPr>
          <a:xfrm>
            <a:off x="457200" y="3118104"/>
            <a:ext cx="384048" cy="384048"/>
          </a:xfrm>
          <a:prstGeom prst="ellipse">
            <a:avLst/>
          </a:prstGeom>
          <a:solidFill>
            <a:srgbClr val="1F8A70"/>
          </a:solidFill>
          <a:ln w="12700">
            <a:solidFill>
              <a:srgbClr val="1F8A70"/>
            </a:solidFill>
            <a:prstDash val="solid"/>
          </a:ln>
        </p:spPr>
      </p:sp>
      <p:sp>
        <p:nvSpPr>
          <p:cNvPr id="13" name="Text 11"/>
          <p:cNvSpPr txBox="1"/>
          <p:nvPr/>
        </p:nvSpPr>
        <p:spPr>
          <a:xfrm>
            <a:off x="457200" y="31181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4" name="Text 12"/>
          <p:cNvSpPr txBox="1"/>
          <p:nvPr/>
        </p:nvSpPr>
        <p:spPr>
          <a:xfrm>
            <a:off x="1005840" y="3081528"/>
            <a:ext cx="4389120" cy="457200"/>
          </a:xfrm>
          <a:prstGeom prst="rect">
            <a:avLst/>
          </a:prstGeom>
          <a:noFill/>
          <a:ln/>
        </p:spPr>
        <p:txBody>
          <a:bodyPr wrap="square" lIns="0" tIns="0" rIns="0" bIns="0" rtlCol="0" anchor="ctr"/>
          <a:lstStyle/>
          <a:p>
            <a:pPr indent="0" marL="0">
              <a:buNone/>
            </a:pPr>
            <a:r>
              <a:rPr lang="en-US" sz="1400" b="1" dirty="0">
                <a:solidFill>
                  <a:schemeClr val="tx1"/>
                </a:solidFill>
              </a:rPr>
              <a:t>Drift detector  </a:t>
            </a:r>
            <a:pPr indent="0" marL="0">
              <a:buNone/>
            </a:pPr>
            <a:r>
              <a:rPr lang="en-US" sz="1400" dirty="0">
                <a:solidFill>
                  <a:schemeClr val="tx2"/>
                </a:solidFill>
              </a:rPr>
              <a:t>top-50 changes, so restart the window</a:t>
            </a:r>
            <a:endParaRPr lang="en-US" sz="1400" dirty="0"/>
          </a:p>
        </p:txBody>
      </p:sp>
      <p:sp>
        <p:nvSpPr>
          <p:cNvPr id="15" name="marker e"/>
          <p:cNvSpPr/>
          <p:nvPr/>
        </p:nvSpPr>
        <p:spPr>
          <a:xfrm>
            <a:off x="457200" y="3776472"/>
            <a:ext cx="384048" cy="384048"/>
          </a:xfrm>
          <a:prstGeom prst="ellipse">
            <a:avLst/>
          </a:prstGeom>
          <a:solidFill>
            <a:srgbClr val="1F8A70"/>
          </a:solidFill>
          <a:ln w="12700">
            <a:solidFill>
              <a:srgbClr val="1F8A70"/>
            </a:solidFill>
            <a:prstDash val="solid"/>
          </a:ln>
        </p:spPr>
      </p:sp>
      <p:sp>
        <p:nvSpPr>
          <p:cNvPr id="16" name="Text 14"/>
          <p:cNvSpPr txBox="1"/>
          <p:nvPr/>
        </p:nvSpPr>
        <p:spPr>
          <a:xfrm>
            <a:off x="457200" y="3776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17" name="Text 15"/>
          <p:cNvSpPr txBox="1"/>
          <p:nvPr/>
        </p:nvSpPr>
        <p:spPr>
          <a:xfrm>
            <a:off x="1005840" y="3739896"/>
            <a:ext cx="4389120" cy="457200"/>
          </a:xfrm>
          <a:prstGeom prst="rect">
            <a:avLst/>
          </a:prstGeom>
          <a:noFill/>
          <a:ln/>
        </p:spPr>
        <p:txBody>
          <a:bodyPr wrap="square" lIns="0" tIns="0" rIns="0" bIns="0" rtlCol="0" anchor="ctr"/>
          <a:lstStyle/>
          <a:p>
            <a:pPr indent="0" marL="0">
              <a:buNone/>
            </a:pPr>
            <a:r>
              <a:rPr lang="en-US" sz="1400" b="1" dirty="0">
                <a:solidFill>
                  <a:schemeClr val="tx1"/>
                </a:solidFill>
              </a:rPr>
              <a:t>IBLT layer  </a:t>
            </a:r>
            <a:pPr indent="0" marL="0">
              <a:buNone/>
            </a:pPr>
            <a:r>
              <a:rPr lang="en-US" sz="1400" dirty="0">
                <a:solidFill>
                  <a:schemeClr val="tx2"/>
                </a:solidFill>
              </a:rPr>
              <a:t>list popular items, no candidate list</a:t>
            </a:r>
            <a:endParaRPr lang="en-US" sz="1400" dirty="0"/>
          </a:p>
        </p:txBody>
      </p:sp>
      <p:sp>
        <p:nvSpPr>
          <p:cNvPr id="18" name="recommendation W"/>
          <p:cNvSpPr/>
          <p:nvPr/>
        </p:nvSpPr>
        <p:spPr>
          <a:xfrm>
            <a:off x="5669280" y="1143000"/>
            <a:ext cx="3017520" cy="1417320"/>
          </a:xfrm>
          <a:prstGeom prst="roundRect">
            <a:avLst>
              <a:gd name="adj" fmla="val 5161"/>
            </a:avLst>
          </a:prstGeom>
          <a:solidFill>
            <a:srgbClr val="D6EEE7"/>
          </a:solidFill>
          <a:ln w="12700">
            <a:solidFill>
              <a:srgbClr val="D6EEE7"/>
            </a:solidFill>
            <a:prstDash val="solid"/>
          </a:ln>
        </p:spPr>
      </p:sp>
      <p:sp>
        <p:nvSpPr>
          <p:cNvPr id="19" name="Text 17"/>
          <p:cNvSpPr txBox="1"/>
          <p:nvPr/>
        </p:nvSpPr>
        <p:spPr>
          <a:xfrm>
            <a:off x="5897880" y="1234440"/>
            <a:ext cx="2651760" cy="1234440"/>
          </a:xfrm>
          <a:prstGeom prst="rect">
            <a:avLst/>
          </a:prstGeom>
          <a:noFill/>
          <a:ln/>
        </p:spPr>
        <p:txBody>
          <a:bodyPr wrap="square" lIns="0" tIns="0" rIns="0" bIns="0" rtlCol="0" anchor="ctr"/>
          <a:lstStyle/>
          <a:p>
            <a:pPr indent="0" marL="0">
              <a:buNone/>
            </a:pPr>
            <a:r>
              <a:rPr lang="en-US" sz="1800" b="1" dirty="0">
                <a:solidFill>
                  <a:schemeClr val="accent1"/>
                </a:solidFill>
              </a:rPr>
              <a:t>SHS-W  =  c + d</a:t>
            </a:r>
            <a:endParaRPr lang="en-US" sz="1800" dirty="0"/>
          </a:p>
          <a:p>
            <a:pPr indent="0" marL="0">
              <a:buNone/>
            </a:pPr>
            <a:r>
              <a:rPr lang="en-US" sz="1400" dirty="0">
                <a:solidFill>
                  <a:schemeClr val="tx1"/>
                </a:solidFill>
              </a:rPr>
              <a:t>for "what is popular now" questions</a:t>
            </a:r>
            <a:endParaRPr lang="en-US" sz="1800" dirty="0"/>
          </a:p>
        </p:txBody>
      </p:sp>
      <p:sp>
        <p:nvSpPr>
          <p:cNvPr id="20" name="recommendation C"/>
          <p:cNvSpPr/>
          <p:nvPr/>
        </p:nvSpPr>
        <p:spPr>
          <a:xfrm>
            <a:off x="5669280" y="2743200"/>
            <a:ext cx="3017520" cy="1417320"/>
          </a:xfrm>
          <a:prstGeom prst="roundRect">
            <a:avLst>
              <a:gd name="adj" fmla="val 5161"/>
            </a:avLst>
          </a:prstGeom>
          <a:solidFill>
            <a:srgbClr val="FBEBD0"/>
          </a:solidFill>
          <a:ln w="12700">
            <a:solidFill>
              <a:srgbClr val="FBEBD0"/>
            </a:solidFill>
            <a:prstDash val="solid"/>
          </a:ln>
        </p:spPr>
      </p:sp>
      <p:sp>
        <p:nvSpPr>
          <p:cNvPr id="21" name="Text 19"/>
          <p:cNvSpPr txBox="1"/>
          <p:nvPr/>
        </p:nvSpPr>
        <p:spPr>
          <a:xfrm>
            <a:off x="5897880" y="2834640"/>
            <a:ext cx="2651760" cy="1234440"/>
          </a:xfrm>
          <a:prstGeom prst="rect">
            <a:avLst/>
          </a:prstGeom>
          <a:noFill/>
          <a:ln/>
        </p:spPr>
        <p:txBody>
          <a:bodyPr wrap="square" lIns="0" tIns="0" rIns="0" bIns="0" rtlCol="0" anchor="ctr"/>
          <a:lstStyle/>
          <a:p>
            <a:pPr indent="0" marL="0">
              <a:buNone/>
            </a:pPr>
            <a:r>
              <a:rPr lang="en-US" sz="1800" b="1" dirty="0">
                <a:solidFill>
                  <a:srgbClr val="9A6412"/>
                </a:solidFill>
              </a:rPr>
              <a:t>SHS-C  =  a + b + d</a:t>
            </a:r>
            <a:endParaRPr lang="en-US" sz="1800" dirty="0"/>
          </a:p>
          <a:p>
            <a:pPr indent="0" marL="0">
              <a:buNone/>
            </a:pPr>
            <a:r>
              <a:rPr lang="en-US" sz="1400" dirty="0">
                <a:solidFill>
                  <a:schemeClr val="tx1"/>
                </a:solidFill>
              </a:rPr>
              <a:t>for totals since the start, at strict privacy</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Drift: recovery in 1.5 rounds, not 5.5</a:t>
            </a:r>
            <a:endParaRPr lang="en-US" sz="3000" dirty="0"/>
          </a:p>
        </p:txBody>
      </p:sp>
      <p:sp>
        <p:nvSpPr>
          <p:cNvPr id="3" name="Text 1"/>
          <p:cNvSpPr txBox="1"/>
          <p:nvPr/>
        </p:nvSpPr>
        <p:spPr>
          <a:xfrm>
            <a:off x="457200" y="1143000"/>
            <a:ext cx="2926080" cy="777240"/>
          </a:xfrm>
          <a:prstGeom prst="rect">
            <a:avLst/>
          </a:prstGeom>
          <a:noFill/>
          <a:ln/>
        </p:spPr>
        <p:txBody>
          <a:bodyPr wrap="square" lIns="0" tIns="0" rIns="0" bIns="0" rtlCol="0" anchor="b"/>
          <a:lstStyle/>
          <a:p>
            <a:pPr indent="0" marL="0">
              <a:buNone/>
            </a:pPr>
            <a:r>
              <a:rPr lang="en-US" sz="4800" b="1" dirty="0">
                <a:solidFill>
                  <a:schemeClr val="accent1"/>
                </a:solidFill>
              </a:rPr>
              <a:t>1.5</a:t>
            </a:r>
            <a:endParaRPr lang="en-US" sz="4800" dirty="0"/>
          </a:p>
        </p:txBody>
      </p:sp>
      <p:sp>
        <p:nvSpPr>
          <p:cNvPr id="4" name="Text 2"/>
          <p:cNvSpPr txBox="1"/>
          <p:nvPr/>
        </p:nvSpPr>
        <p:spPr>
          <a:xfrm>
            <a:off x="457200" y="1947672"/>
            <a:ext cx="2926080" cy="548640"/>
          </a:xfrm>
          <a:prstGeom prst="rect">
            <a:avLst/>
          </a:prstGeom>
          <a:noFill/>
          <a:ln/>
        </p:spPr>
        <p:txBody>
          <a:bodyPr wrap="square" lIns="0" tIns="0" rIns="0" bIns="0" rtlCol="0" anchor="t"/>
          <a:lstStyle/>
          <a:p>
            <a:pPr indent="0" marL="0">
              <a:buNone/>
            </a:pPr>
            <a:r>
              <a:rPr lang="en-US" sz="1400" dirty="0">
                <a:solidFill>
                  <a:schemeClr val="tx2"/>
                </a:solidFill>
              </a:rPr>
              <a:t>rounds to recover after a sudden change (baseline 5.5)</a:t>
            </a:r>
            <a:endParaRPr lang="en-US" sz="1400" dirty="0"/>
          </a:p>
        </p:txBody>
      </p:sp>
      <p:sp>
        <p:nvSpPr>
          <p:cNvPr id="5" name="Text 3"/>
          <p:cNvSpPr txBox="1"/>
          <p:nvPr/>
        </p:nvSpPr>
        <p:spPr>
          <a:xfrm>
            <a:off x="457200" y="2697480"/>
            <a:ext cx="2926080" cy="777240"/>
          </a:xfrm>
          <a:prstGeom prst="rect">
            <a:avLst/>
          </a:prstGeom>
          <a:noFill/>
          <a:ln/>
        </p:spPr>
        <p:txBody>
          <a:bodyPr wrap="square" lIns="0" tIns="0" rIns="0" bIns="0" rtlCol="0" anchor="b"/>
          <a:lstStyle/>
          <a:p>
            <a:pPr indent="0" marL="0">
              <a:buNone/>
            </a:pPr>
            <a:r>
              <a:rPr lang="en-US" sz="4800" b="1" dirty="0">
                <a:solidFill>
                  <a:schemeClr val="accent1"/>
                </a:solidFill>
              </a:rPr>
              <a:t>0.85</a:t>
            </a:r>
            <a:endParaRPr lang="en-US" sz="4800" dirty="0"/>
          </a:p>
        </p:txBody>
      </p:sp>
      <p:sp>
        <p:nvSpPr>
          <p:cNvPr id="6" name="Text 4"/>
          <p:cNvSpPr txBox="1"/>
          <p:nvPr/>
        </p:nvSpPr>
        <p:spPr>
          <a:xfrm>
            <a:off x="457200" y="3502152"/>
            <a:ext cx="2926080" cy="548640"/>
          </a:xfrm>
          <a:prstGeom prst="rect">
            <a:avLst/>
          </a:prstGeom>
          <a:noFill/>
          <a:ln/>
        </p:spPr>
        <p:txBody>
          <a:bodyPr wrap="square" lIns="0" tIns="0" rIns="0" bIns="0" rtlCol="0" anchor="t"/>
          <a:lstStyle/>
          <a:p>
            <a:pPr indent="0" marL="0">
              <a:buNone/>
            </a:pPr>
            <a:r>
              <a:rPr lang="en-US" sz="1400" dirty="0">
                <a:solidFill>
                  <a:schemeClr val="tx2"/>
                </a:solidFill>
              </a:rPr>
              <a:t>top-50 F1 in the 7 rounds after a change (baseline 0.56)</a:t>
            </a:r>
            <a:endParaRPr lang="en-US" sz="1400" dirty="0"/>
          </a:p>
        </p:txBody>
      </p:sp>
      <p:pic>
        <p:nvPicPr>
          <p:cNvPr id="7" name="drift chart" descr="C:/Users/hafiz/Downloads/workdir/sdproject/fedsketch-streaming/results/figures/drift.png">    </p:cNvPr>
          <p:cNvPicPr>
            <a:picLocks noChangeAspect="1"/>
          </p:cNvPicPr>
          <p:nvPr/>
        </p:nvPicPr>
        <p:blipFill>
          <a:blip r:embed="rId1"/>
          <a:stretch>
            <a:fillRect/>
          </a:stretch>
        </p:blipFill>
        <p:spPr>
          <a:xfrm>
            <a:off x="3474720" y="1234440"/>
            <a:ext cx="5212080" cy="1968308"/>
          </a:xfrm>
          <a:prstGeom prst="rect">
            <a:avLst/>
          </a:prstGeom>
        </p:spPr>
      </p:pic>
      <p:sp>
        <p:nvSpPr>
          <p:cNvPr id="8" name="Text 5"/>
          <p:cNvSpPr txBox="1"/>
          <p:nvPr/>
        </p:nvSpPr>
        <p:spPr>
          <a:xfrm>
            <a:off x="3474720" y="3291840"/>
            <a:ext cx="5212080" cy="274320"/>
          </a:xfrm>
          <a:prstGeom prst="rect">
            <a:avLst/>
          </a:prstGeom>
          <a:noFill/>
          <a:ln/>
        </p:spPr>
        <p:txBody>
          <a:bodyPr wrap="square" lIns="0" tIns="0" rIns="0" bIns="0" rtlCol="0" anchor="ctr"/>
          <a:lstStyle/>
          <a:p>
            <a:pPr indent="0" marL="0">
              <a:buNone/>
            </a:pPr>
            <a:r>
              <a:rPr lang="en-US" sz="1100" i="1" dirty="0">
                <a:solidFill>
                  <a:schemeClr val="accent6"/>
                </a:solidFill>
              </a:rPr>
              <a:t>Synthetic stream, ε = 1. Dashed lines: true drifts at rounds 70 and 140.</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Less upload, lower error at tight privacy</a:t>
            </a:r>
            <a:endParaRPr lang="en-US" sz="3000" dirty="0"/>
          </a:p>
        </p:txBody>
      </p:sp>
      <p:graphicFrame>
        <p:nvGraphicFramePr>
          <p:cNvPr id="3" name="Chart 0" descr=""/>
          <p:cNvGraphicFramePr/>
          <p:nvPr/>
        </p:nvGraphicFramePr>
        <p:xfrm>
          <a:off x="457200" y="109728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43000"/>
            <a:ext cx="2926080" cy="777240"/>
          </a:xfrm>
          <a:prstGeom prst="rect">
            <a:avLst/>
          </a:prstGeom>
          <a:noFill/>
          <a:ln/>
        </p:spPr>
        <p:txBody>
          <a:bodyPr wrap="square" lIns="0" tIns="0" rIns="0" bIns="0" rtlCol="0" anchor="b"/>
          <a:lstStyle/>
          <a:p>
            <a:pPr indent="0" marL="0">
              <a:buNone/>
            </a:pPr>
            <a:r>
              <a:rPr lang="en-US" sz="4800" b="1" dirty="0">
                <a:solidFill>
                  <a:schemeClr val="accent1"/>
                </a:solidFill>
              </a:rPr>
              <a:t>31–61%</a:t>
            </a:r>
            <a:endParaRPr lang="en-US" sz="4800" dirty="0"/>
          </a:p>
        </p:txBody>
      </p:sp>
      <p:sp>
        <p:nvSpPr>
          <p:cNvPr id="5" name="Text 2"/>
          <p:cNvSpPr txBox="1"/>
          <p:nvPr/>
        </p:nvSpPr>
        <p:spPr>
          <a:xfrm>
            <a:off x="5760720" y="1947672"/>
            <a:ext cx="2926080" cy="548640"/>
          </a:xfrm>
          <a:prstGeom prst="rect">
            <a:avLst/>
          </a:prstGeom>
          <a:noFill/>
          <a:ln/>
        </p:spPr>
        <p:txBody>
          <a:bodyPr wrap="square" lIns="0" tIns="0" rIns="0" bIns="0" rtlCol="0" anchor="t"/>
          <a:lstStyle/>
          <a:p>
            <a:pPr indent="0" marL="0">
              <a:buNone/>
            </a:pPr>
            <a:r>
              <a:rPr lang="en-US" sz="1400" dirty="0">
                <a:solidFill>
                  <a:schemeClr val="tx2"/>
                </a:solidFill>
              </a:rPr>
              <a:t>less upload per edge with SHS-W at the same privacy (ε = 1)</a:t>
            </a:r>
            <a:endParaRPr lang="en-US" sz="1400" dirty="0"/>
          </a:p>
        </p:txBody>
      </p:sp>
      <p:sp>
        <p:nvSpPr>
          <p:cNvPr id="6" name="Text 3"/>
          <p:cNvSpPr txBox="1"/>
          <p:nvPr/>
        </p:nvSpPr>
        <p:spPr>
          <a:xfrm>
            <a:off x="5760720" y="2697480"/>
            <a:ext cx="2926080" cy="777240"/>
          </a:xfrm>
          <a:prstGeom prst="rect">
            <a:avLst/>
          </a:prstGeom>
          <a:noFill/>
          <a:ln/>
        </p:spPr>
        <p:txBody>
          <a:bodyPr wrap="square" lIns="0" tIns="0" rIns="0" bIns="0" rtlCol="0" anchor="b"/>
          <a:lstStyle/>
          <a:p>
            <a:pPr indent="0" marL="0">
              <a:buNone/>
            </a:pPr>
            <a:r>
              <a:rPr lang="en-US" sz="4800" b="1" dirty="0">
                <a:solidFill>
                  <a:schemeClr val="accent1"/>
                </a:solidFill>
              </a:rPr>
              <a:t>2.0–2.6×</a:t>
            </a:r>
            <a:endParaRPr lang="en-US" sz="4800" dirty="0"/>
          </a:p>
        </p:txBody>
      </p:sp>
      <p:sp>
        <p:nvSpPr>
          <p:cNvPr id="7" name="Text 4"/>
          <p:cNvSpPr txBox="1"/>
          <p:nvPr/>
        </p:nvSpPr>
        <p:spPr>
          <a:xfrm>
            <a:off x="5760720" y="3502152"/>
            <a:ext cx="2926080" cy="548640"/>
          </a:xfrm>
          <a:prstGeom prst="rect">
            <a:avLst/>
          </a:prstGeom>
          <a:noFill/>
          <a:ln/>
        </p:spPr>
        <p:txBody>
          <a:bodyPr wrap="square" lIns="0" tIns="0" rIns="0" bIns="0" rtlCol="0" anchor="t"/>
          <a:lstStyle/>
          <a:p>
            <a:pPr indent="0" marL="0">
              <a:buNone/>
            </a:pPr>
            <a:r>
              <a:rPr lang="en-US" sz="1400" dirty="0">
                <a:solidFill>
                  <a:schemeClr val="tx2"/>
                </a:solidFill>
              </a:rPr>
              <a:t>lower long-run error with tree + peeling at ε = 0.125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did not work, reported honestly</a:t>
            </a:r>
            <a:endParaRPr lang="en-US" sz="3000" dirty="0"/>
          </a:p>
        </p:txBody>
      </p:sp>
      <p:sp>
        <p:nvSpPr>
          <p:cNvPr id="3" name="negative 1"/>
          <p:cNvSpPr/>
          <p:nvPr/>
        </p:nvSpPr>
        <p:spPr>
          <a:xfrm>
            <a:off x="457200" y="1143000"/>
            <a:ext cx="4023360" cy="1143000"/>
          </a:xfrm>
          <a:prstGeom prst="roundRect">
            <a:avLst>
              <a:gd name="adj" fmla="val 6400"/>
            </a:avLst>
          </a:prstGeom>
          <a:solidFill>
            <a:srgbClr val="F2F4F6"/>
          </a:solidFill>
          <a:ln w="12700">
            <a:solidFill>
              <a:srgbClr val="F2F4F6"/>
            </a:solidFill>
            <a:prstDash val="solid"/>
          </a:ln>
        </p:spPr>
      </p:sp>
      <p:sp>
        <p:nvSpPr>
          <p:cNvPr id="4" name="Text 2"/>
          <p:cNvSpPr txBox="1"/>
          <p:nvPr/>
        </p:nvSpPr>
        <p:spPr>
          <a:xfrm>
            <a:off x="685800" y="1143000"/>
            <a:ext cx="3611880" cy="1143000"/>
          </a:xfrm>
          <a:prstGeom prst="rect">
            <a:avLst/>
          </a:prstGeom>
          <a:noFill/>
          <a:ln/>
        </p:spPr>
        <p:txBody>
          <a:bodyPr wrap="square" lIns="0" tIns="0" rIns="0" bIns="0" rtlCol="0" anchor="ctr"/>
          <a:lstStyle/>
          <a:p>
            <a:pPr indent="0" marL="0">
              <a:buNone/>
            </a:pPr>
            <a:r>
              <a:rPr lang="en-US" sz="1600" b="1" dirty="0">
                <a:solidFill>
                  <a:schemeClr val="accent5"/>
                </a:solidFill>
              </a:rPr>
              <a:t>Tree loses at ε ≥ 0.5</a:t>
            </a:r>
            <a:endParaRPr lang="en-US" sz="1600" dirty="0"/>
          </a:p>
          <a:p>
            <a:pPr indent="0" marL="0">
              <a:buNone/>
            </a:pPr>
            <a:r>
              <a:rPr lang="en-US" sz="1400" dirty="0">
                <a:solidFill>
                  <a:schemeClr val="tx2"/>
                </a:solidFill>
              </a:rPr>
              <a:t>and on recent-window questions: noise is no longer the main error</a:t>
            </a:r>
            <a:endParaRPr lang="en-US" sz="1600" dirty="0"/>
          </a:p>
        </p:txBody>
      </p:sp>
      <p:sp>
        <p:nvSpPr>
          <p:cNvPr id="5" name="negative 2"/>
          <p:cNvSpPr/>
          <p:nvPr/>
        </p:nvSpPr>
        <p:spPr>
          <a:xfrm>
            <a:off x="4663440" y="1143000"/>
            <a:ext cx="4023360" cy="1143000"/>
          </a:xfrm>
          <a:prstGeom prst="roundRect">
            <a:avLst>
              <a:gd name="adj" fmla="val 6400"/>
            </a:avLst>
          </a:prstGeom>
          <a:solidFill>
            <a:srgbClr val="F2F4F6"/>
          </a:solidFill>
          <a:ln w="12700">
            <a:solidFill>
              <a:srgbClr val="F2F4F6"/>
            </a:solidFill>
            <a:prstDash val="solid"/>
          </a:ln>
        </p:spPr>
      </p:sp>
      <p:sp>
        <p:nvSpPr>
          <p:cNvPr id="6" name="Text 4"/>
          <p:cNvSpPr txBox="1"/>
          <p:nvPr/>
        </p:nvSpPr>
        <p:spPr>
          <a:xfrm>
            <a:off x="4892040" y="1143000"/>
            <a:ext cx="3611880" cy="1143000"/>
          </a:xfrm>
          <a:prstGeom prst="rect">
            <a:avLst/>
          </a:prstGeom>
          <a:noFill/>
          <a:ln/>
        </p:spPr>
        <p:txBody>
          <a:bodyPr wrap="square" lIns="0" tIns="0" rIns="0" bIns="0" rtlCol="0" anchor="ctr"/>
          <a:lstStyle/>
          <a:p>
            <a:pPr indent="0" marL="0">
              <a:buNone/>
            </a:pPr>
            <a:r>
              <a:rPr lang="en-US" sz="1600" b="1" dirty="0">
                <a:solidFill>
                  <a:schemeClr val="accent5"/>
                </a:solidFill>
              </a:rPr>
              <a:t>All parts at once is worse</a:t>
            </a:r>
            <a:endParaRPr lang="en-US" sz="1600" dirty="0"/>
          </a:p>
          <a:p>
            <a:pPr indent="0" marL="0">
              <a:buNone/>
            </a:pPr>
            <a:r>
              <a:rPr lang="en-US" sz="1400" dirty="0">
                <a:solidFill>
                  <a:schemeClr val="tx2"/>
                </a:solidFill>
              </a:rPr>
              <a:t>than SHS-W or SHS-C on their own</a:t>
            </a:r>
            <a:endParaRPr lang="en-US" sz="1600" dirty="0"/>
          </a:p>
        </p:txBody>
      </p:sp>
      <p:sp>
        <p:nvSpPr>
          <p:cNvPr id="7" name="negative 3"/>
          <p:cNvSpPr/>
          <p:nvPr/>
        </p:nvSpPr>
        <p:spPr>
          <a:xfrm>
            <a:off x="457200" y="2468880"/>
            <a:ext cx="4023360" cy="1143000"/>
          </a:xfrm>
          <a:prstGeom prst="roundRect">
            <a:avLst>
              <a:gd name="adj" fmla="val 6400"/>
            </a:avLst>
          </a:prstGeom>
          <a:solidFill>
            <a:srgbClr val="F2F4F6"/>
          </a:solidFill>
          <a:ln w="12700">
            <a:solidFill>
              <a:srgbClr val="F2F4F6"/>
            </a:solidFill>
            <a:prstDash val="solid"/>
          </a:ln>
        </p:spPr>
      </p:sp>
      <p:sp>
        <p:nvSpPr>
          <p:cNvPr id="8" name="Text 6"/>
          <p:cNvSpPr txBox="1"/>
          <p:nvPr/>
        </p:nvSpPr>
        <p:spPr>
          <a:xfrm>
            <a:off x="685800" y="2468880"/>
            <a:ext cx="3611880" cy="1143000"/>
          </a:xfrm>
          <a:prstGeom prst="rect">
            <a:avLst/>
          </a:prstGeom>
          <a:noFill/>
          <a:ln/>
        </p:spPr>
        <p:txBody>
          <a:bodyPr wrap="square" lIns="0" tIns="0" rIns="0" bIns="0" rtlCol="0" anchor="ctr"/>
          <a:lstStyle/>
          <a:p>
            <a:pPr indent="0" marL="0">
              <a:buNone/>
            </a:pPr>
            <a:r>
              <a:rPr lang="en-US" sz="1600" b="1" dirty="0">
                <a:solidFill>
                  <a:schemeClr val="accent5"/>
                </a:solidFill>
              </a:rPr>
              <a:t>IBLT costs 2–4× more upload</a:t>
            </a:r>
            <a:endParaRPr lang="en-US" sz="1600" dirty="0"/>
          </a:p>
          <a:p>
            <a:pPr indent="0" marL="0">
              <a:buNone/>
            </a:pPr>
            <a:r>
              <a:rPr lang="en-US" sz="1400" dirty="0">
                <a:solidFill>
                  <a:schemeClr val="tx2"/>
                </a:solidFill>
              </a:rPr>
              <a:t>than a CountSketch that has a candidate list</a:t>
            </a:r>
            <a:endParaRPr lang="en-US" sz="1600" dirty="0"/>
          </a:p>
        </p:txBody>
      </p:sp>
      <p:sp>
        <p:nvSpPr>
          <p:cNvPr id="9" name="negative 4"/>
          <p:cNvSpPr/>
          <p:nvPr/>
        </p:nvSpPr>
        <p:spPr>
          <a:xfrm>
            <a:off x="4663440" y="2468880"/>
            <a:ext cx="4023360" cy="1143000"/>
          </a:xfrm>
          <a:prstGeom prst="roundRect">
            <a:avLst>
              <a:gd name="adj" fmla="val 6400"/>
            </a:avLst>
          </a:prstGeom>
          <a:solidFill>
            <a:srgbClr val="F2F4F6"/>
          </a:solidFill>
          <a:ln w="12700">
            <a:solidFill>
              <a:srgbClr val="F2F4F6"/>
            </a:solidFill>
            <a:prstDash val="solid"/>
          </a:ln>
        </p:spPr>
      </p:sp>
      <p:sp>
        <p:nvSpPr>
          <p:cNvPr id="10" name="Text 8"/>
          <p:cNvSpPr txBox="1"/>
          <p:nvPr/>
        </p:nvSpPr>
        <p:spPr>
          <a:xfrm>
            <a:off x="4892040" y="2468880"/>
            <a:ext cx="3611880" cy="1143000"/>
          </a:xfrm>
          <a:prstGeom prst="rect">
            <a:avLst/>
          </a:prstGeom>
          <a:noFill/>
          <a:ln/>
        </p:spPr>
        <p:txBody>
          <a:bodyPr wrap="square" lIns="0" tIns="0" rIns="0" bIns="0" rtlCol="0" anchor="ctr"/>
          <a:lstStyle/>
          <a:p>
            <a:pPr indent="0" marL="0">
              <a:buNone/>
            </a:pPr>
            <a:r>
              <a:rPr lang="en-US" sz="1600" b="1" dirty="0">
                <a:solidFill>
                  <a:schemeClr val="accent5"/>
                </a:solidFill>
              </a:rPr>
              <a:t>Drift false alarms on tweets</a:t>
            </a:r>
            <a:endParaRPr lang="en-US" sz="1600" dirty="0"/>
          </a:p>
          <a:p>
            <a:pPr indent="0" marL="0">
              <a:buNone/>
            </a:pPr>
            <a:r>
              <a:rPr lang="en-US" sz="1400" dirty="0">
                <a:solidFill>
                  <a:schemeClr val="tx2"/>
                </a:solidFill>
              </a:rPr>
              <a:t>topics shift naturally; costs 0.13 F1</a:t>
            </a:r>
            <a:endParaRPr lang="en-US" sz="1600" dirty="0"/>
          </a:p>
        </p:txBody>
      </p:sp>
      <p:sp>
        <p:nvSpPr>
          <p:cNvPr id="11" name="Text 9"/>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400" b="1" dirty="0">
                <a:solidFill>
                  <a:schemeClr val="tx1"/>
                </a:solidFill>
              </a:rPr>
              <a:t>Reproduced: </a:t>
            </a:r>
            <a:pPr indent="0" marL="0">
              <a:buNone/>
            </a:pPr>
            <a:r>
              <a:rPr lang="en-US" sz="1400" dirty="0">
                <a:solidFill>
                  <a:schemeClr val="tx2"/>
                </a:solidFill>
              </a:rPr>
              <a:t>two-phase widths 6–16× smaller, HybridSketch beats Shared by 3.2–3.5×, TrieHH precision 0.86–1.00. Partial: FreshSketch beat Hybrid.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Live demo: the pipeline end to end</a:t>
            </a:r>
            <a:endParaRPr lang="en-US" sz="3000" dirty="0"/>
          </a:p>
        </p:txBody>
      </p:sp>
      <p:pic>
        <p:nvPicPr>
          <p:cNvPr id="3" name="dashboard screenshot" descr="C:/Users/hafiz/Downloads/workdir/sdproject/fedsketch-streaming/results/figures/grafana_dashboard.png">    </p:cNvPr>
          <p:cNvPicPr>
            <a:picLocks noChangeAspect="1"/>
          </p:cNvPicPr>
          <p:nvPr/>
        </p:nvPicPr>
        <p:blipFill>
          <a:blip r:embed="rId1"/>
          <a:stretch>
            <a:fillRect/>
          </a:stretch>
        </p:blipFill>
        <p:spPr>
          <a:xfrm>
            <a:off x="457200" y="1097280"/>
            <a:ext cx="4937760" cy="3086100"/>
          </a:xfrm>
          <a:prstGeom prst="rect">
            <a:avLst/>
          </a:prstGeom>
        </p:spPr>
      </p:pic>
      <p:sp>
        <p:nvSpPr>
          <p:cNvPr id="4" name="marker 1"/>
          <p:cNvSpPr/>
          <p:nvPr/>
        </p:nvSpPr>
        <p:spPr>
          <a:xfrm>
            <a:off x="5669280" y="1188720"/>
            <a:ext cx="384048" cy="384048"/>
          </a:xfrm>
          <a:prstGeom prst="ellipse">
            <a:avLst/>
          </a:prstGeom>
          <a:solidFill>
            <a:srgbClr val="E9A23B"/>
          </a:solidFill>
          <a:ln w="12700">
            <a:solidFill>
              <a:srgbClr val="E9A23B"/>
            </a:solidFill>
            <a:prstDash val="solid"/>
          </a:ln>
        </p:spPr>
      </p:sp>
      <p:sp>
        <p:nvSpPr>
          <p:cNvPr id="5" name="Text 2"/>
          <p:cNvSpPr txBox="1"/>
          <p:nvPr/>
        </p:nvSpPr>
        <p:spPr>
          <a:xfrm>
            <a:off x="566928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217920" y="1115568"/>
            <a:ext cx="2468880" cy="868680"/>
          </a:xfrm>
          <a:prstGeom prst="rect">
            <a:avLst/>
          </a:prstGeom>
          <a:noFill/>
          <a:ln/>
        </p:spPr>
        <p:txBody>
          <a:bodyPr wrap="square" lIns="0" tIns="0" rIns="0" bIns="0" rtlCol="0" anchor="t"/>
          <a:lstStyle/>
          <a:p>
            <a:pPr indent="0" marL="0">
              <a:buNone/>
            </a:pPr>
            <a:r>
              <a:rPr lang="en-US" sz="1500" b="1" dirty="0">
                <a:solidFill>
                  <a:schemeClr val="tx1"/>
                </a:solidFill>
              </a:rPr>
              <a:t>One command</a:t>
            </a:r>
            <a:endParaRPr lang="en-US" sz="1500" dirty="0"/>
          </a:p>
          <a:p>
            <a:pPr indent="0" marL="0">
              <a:buNone/>
            </a:pPr>
            <a:r>
              <a:rPr lang="en-US" sz="1300" dirty="0">
                <a:solidFill>
                  <a:schemeClr val="tx2"/>
                </a:solidFill>
              </a:rPr>
              <a:t>setup.ps1 -Demo starts Kafka, 8 edges, the server and Grafana</a:t>
            </a:r>
            <a:endParaRPr lang="en-US" sz="1500" dirty="0"/>
          </a:p>
        </p:txBody>
      </p:sp>
      <p:sp>
        <p:nvSpPr>
          <p:cNvPr id="7" name="marker 2"/>
          <p:cNvSpPr/>
          <p:nvPr/>
        </p:nvSpPr>
        <p:spPr>
          <a:xfrm>
            <a:off x="5669280" y="2240280"/>
            <a:ext cx="384048" cy="384048"/>
          </a:xfrm>
          <a:prstGeom prst="ellipse">
            <a:avLst/>
          </a:prstGeom>
          <a:solidFill>
            <a:srgbClr val="E9A23B"/>
          </a:solidFill>
          <a:ln w="12700">
            <a:solidFill>
              <a:srgbClr val="E9A23B"/>
            </a:solidFill>
            <a:prstDash val="solid"/>
          </a:ln>
        </p:spPr>
      </p:sp>
      <p:sp>
        <p:nvSpPr>
          <p:cNvPr id="8" name="Text 5"/>
          <p:cNvSpPr txBox="1"/>
          <p:nvPr/>
        </p:nvSpPr>
        <p:spPr>
          <a:xfrm>
            <a:off x="566928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6217920" y="2167128"/>
            <a:ext cx="2468880" cy="868680"/>
          </a:xfrm>
          <a:prstGeom prst="rect">
            <a:avLst/>
          </a:prstGeom>
          <a:noFill/>
          <a:ln/>
        </p:spPr>
        <p:txBody>
          <a:bodyPr wrap="square" lIns="0" tIns="0" rIns="0" bIns="0" rtlCol="0" anchor="t"/>
          <a:lstStyle/>
          <a:p>
            <a:pPr indent="0" marL="0">
              <a:buNone/>
            </a:pPr>
            <a:r>
              <a:rPr lang="en-US" sz="1500" b="1" dirty="0">
                <a:solidFill>
                  <a:schemeClr val="tx1"/>
                </a:solidFill>
              </a:rPr>
              <a:t>Watch it stream</a:t>
            </a:r>
            <a:endParaRPr lang="en-US" sz="1500" dirty="0"/>
          </a:p>
          <a:p>
            <a:pPr indent="0" marL="0">
              <a:buNone/>
            </a:pPr>
            <a:r>
              <a:rPr lang="en-US" sz="1300" dirty="0">
                <a:solidFill>
                  <a:schemeClr val="tx2"/>
                </a:solidFill>
              </a:rPr>
              <a:t>each round: upload, unmask, release, score</a:t>
            </a:r>
            <a:endParaRPr lang="en-US" sz="1500" dirty="0"/>
          </a:p>
        </p:txBody>
      </p:sp>
      <p:sp>
        <p:nvSpPr>
          <p:cNvPr id="10" name="marker 3"/>
          <p:cNvSpPr/>
          <p:nvPr/>
        </p:nvSpPr>
        <p:spPr>
          <a:xfrm>
            <a:off x="5669280" y="3291840"/>
            <a:ext cx="384048" cy="384048"/>
          </a:xfrm>
          <a:prstGeom prst="ellipse">
            <a:avLst/>
          </a:prstGeom>
          <a:solidFill>
            <a:srgbClr val="E9A23B"/>
          </a:solidFill>
          <a:ln w="12700">
            <a:solidFill>
              <a:srgbClr val="E9A23B"/>
            </a:solidFill>
            <a:prstDash val="solid"/>
          </a:ln>
        </p:spPr>
      </p:sp>
      <p:sp>
        <p:nvSpPr>
          <p:cNvPr id="11" name="Text 8"/>
          <p:cNvSpPr txBox="1"/>
          <p:nvPr/>
        </p:nvSpPr>
        <p:spPr>
          <a:xfrm>
            <a:off x="566928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6217920" y="3218688"/>
            <a:ext cx="2468880" cy="868680"/>
          </a:xfrm>
          <a:prstGeom prst="rect">
            <a:avLst/>
          </a:prstGeom>
          <a:noFill/>
          <a:ln/>
        </p:spPr>
        <p:txBody>
          <a:bodyPr wrap="square" lIns="0" tIns="0" rIns="0" bIns="0" rtlCol="0" anchor="t"/>
          <a:lstStyle/>
          <a:p>
            <a:pPr indent="0" marL="0">
              <a:buNone/>
            </a:pPr>
            <a:r>
              <a:rPr lang="en-US" sz="1500" b="1" dirty="0">
                <a:solidFill>
                  <a:schemeClr val="tx1"/>
                </a:solidFill>
              </a:rPr>
              <a:t>Drifts at 70 and 140</a:t>
            </a:r>
            <a:endParaRPr lang="en-US" sz="1500" dirty="0"/>
          </a:p>
          <a:p>
            <a:pPr indent="0" marL="0">
              <a:buNone/>
            </a:pPr>
            <a:r>
              <a:rPr lang="en-US" sz="1300" dirty="0">
                <a:solidFill>
                  <a:schemeClr val="tx2"/>
                </a:solidFill>
              </a:rPr>
              <a:t>baseline drops; SHS-W and SHS-C recover in a round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Takeaways</a:t>
            </a:r>
            <a:endParaRPr lang="en-US" sz="4000" dirty="0"/>
          </a:p>
        </p:txBody>
      </p:sp>
      <p:sp>
        <p:nvSpPr>
          <p:cNvPr id="3" name="Text 0"/>
          <p:cNvSpPr/>
          <p:nvPr>
            <p:ph idx="101" type="body" hasCustomPrompt="1"/>
          </p:nvPr>
        </p:nvSpPr>
        <p:spPr>
          <a:xfrm>
            <a:off x="548640" y="2606040"/>
            <a:ext cx="8046720" cy="640080"/>
          </a:xfrm>
          <a:prstGeom prst="rect">
            <a:avLst/>
          </a:prstGeom>
          <a:noFill/>
          <a:ln/>
        </p:spPr>
        <p:txBody>
          <a:bodyPr wrap="square" lIns="0" tIns="0" rIns="0" bIns="0" rtlCol="0" anchor="t"/>
          <a:lstStyle/>
          <a:p>
            <a:pPr indent="0" marL="0">
              <a:buNone/>
            </a:pPr>
            <a:r>
              <a:rPr lang="en-US" sz="1800" dirty="0">
                <a:solidFill>
                  <a:schemeClr val="accent2"/>
                </a:solidFill>
              </a:rPr>
              <a:t>Private, federated top-k on a live stream works end to end</a:t>
            </a:r>
            <a:endParaRPr lang="en-US" sz="1800" dirty="0"/>
          </a:p>
        </p:txBody>
      </p:sp>
      <p:sp>
        <p:nvSpPr>
          <p:cNvPr id="4" name="Text 2"/>
          <p:cNvSpPr txBox="1"/>
          <p:nvPr/>
        </p:nvSpPr>
        <p:spPr>
          <a:xfrm>
            <a:off x="548640" y="3246120"/>
            <a:ext cx="8046720" cy="10972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bg1"/>
                </a:solidFill>
              </a:rPr>
              <a:t>Drift-aware windows recover 3.7× faster and upload up to 61% less</a:t>
            </a:r>
            <a:endParaRPr lang="en-US" sz="1600" dirty="0"/>
          </a:p>
          <a:p>
            <a:pPr marL="342900" indent="-342900">
              <a:spcAft>
                <a:spcPts val="600"/>
              </a:spcAft>
              <a:buSzPct val="100000"/>
              <a:buChar char="•"/>
            </a:pPr>
            <a:r>
              <a:rPr lang="en-US" sz="1600" dirty="0">
                <a:solidFill>
                  <a:schemeClr val="bg1"/>
                </a:solidFill>
              </a:rPr>
              <a:t>Tree release with peeling halves long-run error at strict privacy</a:t>
            </a:r>
            <a:endParaRPr lang="en-US" sz="1600" dirty="0"/>
          </a:p>
          <a:p>
            <a:pPr marL="342900" indent="-342900">
              <a:spcAft>
                <a:spcPts val="600"/>
              </a:spcAft>
              <a:buSzPct val="100000"/>
              <a:buChar char="•"/>
            </a:pPr>
            <a:r>
              <a:rPr lang="en-US" sz="1600" dirty="0">
                <a:solidFill>
                  <a:schemeClr val="bg1"/>
                </a:solidFill>
              </a:rPr>
              <a:t>No single setting wins everywhere: pick SHS-W or SHS-C by question</a:t>
            </a:r>
            <a:endParaRPr lang="en-US" sz="1600" dirty="0"/>
          </a:p>
        </p:txBody>
      </p:sp>
      <p:sp>
        <p:nvSpPr>
          <p:cNvPr id="5" name="Text 3"/>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200" dirty="0">
                <a:solidFill>
                  <a:schemeClr val="accent3"/>
                </a:solidFill>
              </a:rPr>
              <a:t>Thank you  ·  Team 22</a:t>
            </a:r>
            <a:endParaRPr lang="en-US" sz="1200" dirty="0"/>
          </a:p>
        </p:txBody>
      </p:sp>
    </p:spTree>
  </p:cSld>
  <p:clrMapOvr>
    <a:masterClrMapping/>
  </p:clrMapOvr>
</p:sld>
</file>

<file path=ppt/theme/theme1.xml><?xml version="1.0" encoding="utf-8"?>
<a:theme xmlns:a="http://schemas.openxmlformats.org/drawingml/2006/main" name="StreamHybridSketch">
  <a:themeElements>
    <a:clrScheme name="StreamHybridSketch">
      <a:dk1>
        <a:srgbClr val="1F2430"/>
      </a:dk1>
      <a:lt1>
        <a:srgbClr val="FFFFFF"/>
      </a:lt1>
      <a:dk2>
        <a:srgbClr val="4A5263"/>
      </a:dk2>
      <a:lt2>
        <a:srgbClr val="F2F4F6"/>
      </a:lt2>
      <a:accent1>
        <a:srgbClr val="1F8A70"/>
      </a:accent1>
      <a:accent2>
        <a:srgbClr val="E9A23B"/>
      </a:accent2>
      <a:accent3>
        <a:srgbClr val="8A94A6"/>
      </a:accent3>
      <a:accent4>
        <a:srgbClr val="3D5A80"/>
      </a:accent4>
      <a:accent5>
        <a:srgbClr val="C8553D"/>
      </a:accent5>
      <a:accent6>
        <a:srgbClr val="6B7A8F"/>
      </a:accent6>
      <a:hlink>
        <a:srgbClr val="1F8A70"/>
      </a:hlink>
      <a:folHlink>
        <a:srgbClr val="6B7A8F"/>
      </a:folHlink>
    </a:clrScheme>
    <a:fontScheme name="StreamHybridSke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StreamHybridSketch: Federated Sketches for Privacy-Preserving Streaming Analytics</dc:title>
  <dc:subject>PptxGenJS Presentation</dc:subject>
  <dc:creator>Team 22</dc:creator>
  <cp:lastModifiedBy>Team 22</cp:lastModifiedBy>
  <cp:revision>1</cp:revision>
  <dcterms:created xsi:type="dcterms:W3CDTF">2026-10-15T13:18:48Z</dcterms:created>
  <dcterms:modified xsi:type="dcterms:W3CDTF">2026-10-15T13:18:48Z</dcterms:modified>
</cp:coreProperties>
</file>