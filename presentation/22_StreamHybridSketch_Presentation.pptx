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3c1ab820-423b-fc85-bec6-4a741f5a8ae1}">
          <p14:sldIdLst>
            <p14:sldId id="256"/>
            <p14:sldId id="257"/>
          </p14:sldIdLst>
        </p14:section>
        <p14:section name="Approach" id="{7371ed87-1b26-63d9-5513-548aa4231747}">
          <p14:sldIdLst>
            <p14:sldId id="258"/>
            <p14:sldId id="259"/>
            <p14:sldId id="260"/>
            <p14:sldId id="261"/>
            <p14:sldId id="262"/>
          </p14:sldIdLst>
        </p14:section>
        <p14:section name="Results" id="{abe104b2-d5f2-2b43-8179-5efe21cfe91f}">
          <p14:sldIdLst>
            <p14:sldId id="263"/>
            <p14:sldId id="264"/>
          </p14:sldIdLst>
        </p14:section>
        <p14:section name="Demo" id="{58206d06-323e-faf8-65f6-469843c9adaa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[0:00-0:10] We are Team 22. StreamHybridSketch finds what is popular right now across many users' data, privately, on a live stream.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[0:10-0:28] The task: a live top-50 every window, while raw data stays at the edges and the server sees only a noisy sum. It is hard because data never stops, privacy loss adds up with every release, and popularity shifts. The right column is our answer to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[0:28-0:45] Wu et al. is our baseline: how big a sketch must be, and HybridSketch, which re-picks signs each round so errors cancel. TrieHH finds popular words letter by letter; Gascon et al. list heavy items with an invertible table. All three publish a fixed number of times; a stream publishes forever.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[0:45-1:02] A producer replays real data into Kafka, one lane per edge; users are split across eight edges by hashing their IDs. Each Flower edge sketches its users' items, adds a noise share and a mask. The server adds the uploads, and answers flow on to the evaluator and Grafana.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[1:02-1:25] Inside a round. A CountSketch hashes each item to one cell per row with a random sign; the estimate is the median over rows, and sketches add cell by cell. Pairs of edges share a mask that one adds and one subtracts, so it cancels. Noise is split the same way: each edge adds an eighth.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[1:25-1:48] Our main addition is tree release. A total since the start normally adds every noisy window. The tree also keeps summaries of 2, 4 and 8 windows, so a total needs only a few noisy pieces: three instead of seven here. The catch is shared signs, so popular items leak error; peeling removes the top 200 first and cuts error 5.7 times.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[1:48-2:02] Three more parts: adaptive width saves upload, the drift detector restarts the window when the top-50 suddenly changes, and the IBLT needs no candidate list. Two combinations won: SHS-W for current trends, SHS-C for long totals at strict privacy.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[2:02-2:22] We tested on Gowalla check-ins, Sentiment140 tweets, and a synthetic stream where the top 200 items are swapped at rounds 70 and 140. After such a change the baseline needs five and a half rounds to recover; ours takes one and a half, and accuracy rises from 0.56 to 0.85. SHS-W uploads 31 to 61 percent less, and at strict privacy the tree halves long-run error.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[2:22-2:35] The paper reproductions held, except FreshSketch beat HybridSketch. Our negatives: the tree only helps at strict privacy, enabling everything is worse, the IBLT costs more upload, and the detector raises false alarms on tweets.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[2:35-2:45, then demo ~2:00 to the end] Now the live demo. One command starts the pipeline. Watch rounds 70 and 140: the baseline drops for about five rounds while SHS-W and SHS-C recover within one or two. [Closing, as the demo finishes, ~4:45-5:00] So: private federated top-50 on a live stream works end to end, recovers 3.7 times faster after change, and uploads less.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IOE413 Streaming Data Analytics  ·  Team 22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9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9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234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F2329"/>
                </a:solidFill>
              </a:rPr>
              <a:t>StreamHybridSketch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0116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F6670"/>
                </a:solidFill>
              </a:rPr>
              <a:t>Federated sketches for privacy-preserving streaming analytics: finding what is popular right now across many users' data, without collecting it</a:t>
            </a:r>
            <a:endParaRPr lang="en-US" sz="16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926080"/>
          <a:ext cx="4206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5544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 number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Adnan Soni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2023BCD0017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Bhaskara Akshay Sriram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2023BCD0015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Muhammed Minhaj P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2023BCS0225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Hafiz Feroze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2023BCS0006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120640" y="292608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670"/>
                </a:solidFill>
              </a:rPr>
              <a:t>IOE413 Streaming Data Analytics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F6670"/>
                </a:solidFill>
              </a:rPr>
              <a:t>Mini project, Team 22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F6670"/>
                </a:solidFill>
              </a:rPr>
              <a:t>Topic 9: Federated Sketches</a:t>
            </a:r>
            <a:endParaRPr lang="en-US" sz="13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9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Problem: live top-50 without collecting raw data</a:t>
            </a:r>
            <a:endParaRPr lang="en-US" sz="2400" dirty="0"/>
          </a:p>
        </p:txBody>
      </p:sp>
      <p:sp>
        <p:nvSpPr>
          <p:cNvPr id="3" name="box Users' events"/>
          <p:cNvSpPr/>
          <p:nvPr/>
        </p:nvSpPr>
        <p:spPr>
          <a:xfrm>
            <a:off x="457200" y="100584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A3A9B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05840"/>
            <a:ext cx="182880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9"/>
                </a:solidFill>
              </a:rPr>
              <a:t>Users' events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670"/>
                </a:solidFill>
              </a:rPr>
              <a:t>check-ins, tweets</a:t>
            </a:r>
            <a:endParaRPr lang="en-US" sz="1200" dirty="0"/>
          </a:p>
        </p:txBody>
      </p:sp>
      <p:sp>
        <p:nvSpPr>
          <p:cNvPr id="5" name="box 8 edges"/>
          <p:cNvSpPr/>
          <p:nvPr/>
        </p:nvSpPr>
        <p:spPr>
          <a:xfrm>
            <a:off x="2606040" y="100584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E6F0FB"/>
          </a:solidFill>
          <a:ln w="22225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606040" y="1005840"/>
            <a:ext cx="182880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9"/>
                </a:solidFill>
              </a:rPr>
              <a:t>8 edges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670"/>
                </a:solidFill>
              </a:rPr>
              <a:t>each holds a user group</a:t>
            </a:r>
            <a:endParaRPr lang="en-US" sz="1200" dirty="0"/>
          </a:p>
        </p:txBody>
      </p:sp>
      <p:sp>
        <p:nvSpPr>
          <p:cNvPr id="7" name="box Server"/>
          <p:cNvSpPr/>
          <p:nvPr/>
        </p:nvSpPr>
        <p:spPr>
          <a:xfrm>
            <a:off x="4754880" y="100584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A3A9B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54880" y="1005840"/>
            <a:ext cx="182880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9"/>
                </a:solidFill>
              </a:rPr>
              <a:t>Server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670"/>
                </a:solidFill>
              </a:rPr>
              <a:t>sees only a noisy sum</a:t>
            </a:r>
            <a:endParaRPr lang="en-US" sz="1200" dirty="0"/>
          </a:p>
        </p:txBody>
      </p:sp>
      <p:sp>
        <p:nvSpPr>
          <p:cNvPr id="9" name="box Top-50 now"/>
          <p:cNvSpPr/>
          <p:nvPr/>
        </p:nvSpPr>
        <p:spPr>
          <a:xfrm>
            <a:off x="6903720" y="1005840"/>
            <a:ext cx="17830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A3A9B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03720" y="1005840"/>
            <a:ext cx="1783080" cy="6858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9"/>
                </a:solidFill>
              </a:rPr>
              <a:t>Top-50 now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670"/>
                </a:solidFill>
              </a:rPr>
              <a:t>every window</a:t>
            </a:r>
            <a:endParaRPr lang="en-US" sz="1200" dirty="0"/>
          </a:p>
        </p:txBody>
      </p:sp>
      <p:sp>
        <p:nvSpPr>
          <p:cNvPr id="11" name="connector"/>
          <p:cNvSpPr/>
          <p:nvPr/>
        </p:nvSpPr>
        <p:spPr>
          <a:xfrm>
            <a:off x="2286000" y="1348740"/>
            <a:ext cx="320040" cy="0"/>
          </a:xfrm>
          <a:prstGeom prst="line">
            <a:avLst/>
          </a:prstGeom>
          <a:noFill/>
          <a:ln w="15875">
            <a:solidFill>
              <a:srgbClr val="7D848C"/>
            </a:solidFill>
            <a:prstDash val="solid"/>
            <a:tailEnd type="triangle"/>
          </a:ln>
        </p:spPr>
      </p:sp>
      <p:sp>
        <p:nvSpPr>
          <p:cNvPr id="12" name="connector"/>
          <p:cNvSpPr/>
          <p:nvPr/>
        </p:nvSpPr>
        <p:spPr>
          <a:xfrm>
            <a:off x="4434840" y="1348740"/>
            <a:ext cx="320040" cy="0"/>
          </a:xfrm>
          <a:prstGeom prst="line">
            <a:avLst/>
          </a:prstGeom>
          <a:noFill/>
          <a:ln w="15875">
            <a:solidFill>
              <a:srgbClr val="7D848C"/>
            </a:solidFill>
            <a:prstDash val="solid"/>
            <a:tailEnd type="triangle"/>
          </a:ln>
        </p:spPr>
      </p:sp>
      <p:sp>
        <p:nvSpPr>
          <p:cNvPr id="13" name="connector"/>
          <p:cNvSpPr/>
          <p:nvPr/>
        </p:nvSpPr>
        <p:spPr>
          <a:xfrm>
            <a:off x="6583680" y="1348740"/>
            <a:ext cx="320040" cy="0"/>
          </a:xfrm>
          <a:prstGeom prst="line">
            <a:avLst/>
          </a:prstGeom>
          <a:noFill/>
          <a:ln w="15875">
            <a:solidFill>
              <a:srgbClr val="7D848C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457200" y="1828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F6670"/>
                </a:solidFill>
              </a:rPr>
              <a:t>Example: a city's 50 busiest areas today, with no phone sending its location history to a server.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474720"/>
                <a:gridCol w="31089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Challenge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is hard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answer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never stops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new answer is needed every window, not once at the end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Windowed rounds over Kafka + Flower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Privacy adds up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published answer leaks a little; leaks accumulate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Differential privacy noise, an accountant, tree release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Popularity shifts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 windows mislead after a sudden change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Drift detector restarts the window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9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Base papers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  <a:gridCol w="1280160"/>
                <a:gridCol w="15544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idea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 in our project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Wu et al., NeurIPS 2023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 a CountSketch from the data's tail (two-phase rule). HybridSketch: same cells, new +/- signs each round, so errors cancel. Gaussian noise gives DP.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Gowalla, C4, Sentiment140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baseline, reproduced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Zhu et al., AISTATS 2020 (TrieHH)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 popular words letter by letter from sampled user votes; sampling itself gives DP.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Sentiment140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Reproduced as a second heavy-hitter method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Gascón et al., ICML-W 2023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invertible table (IBLT) with threshold sampling lists heavy items directly, with no candidate list.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 Overflow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in as an optional layer, compared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749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9"/>
                </a:solidFill>
              </a:rPr>
              <a:t>Gap: all three publish a fixed number of times. A stream publishes every window, so noise and privacy loss accumulate, the right sketch size changes, and the window must react to drift.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9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Pipeline: raw events stay at the edges</a:t>
            </a:r>
            <a:endParaRPr lang="en-US" sz="2400" dirty="0"/>
          </a:p>
        </p:txBody>
      </p:sp>
      <p:sp>
        <p:nvSpPr>
          <p:cNvPr id="3" name="raw data zone"/>
          <p:cNvSpPr/>
          <p:nvPr/>
        </p:nvSpPr>
        <p:spPr>
          <a:xfrm>
            <a:off x="320040" y="914400"/>
            <a:ext cx="6355080" cy="1417320"/>
          </a:xfrm>
          <a:prstGeom prst="roundRect">
            <a:avLst>
              <a:gd name="adj" fmla="val 3871"/>
            </a:avLst>
          </a:prstGeom>
          <a:solidFill>
            <a:srgbClr val="F1F3F4"/>
          </a:solidFill>
          <a:ln w="12700">
            <a:solidFill>
              <a:srgbClr val="A3A9B0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F6670"/>
                </a:solidFill>
              </a:rPr>
              <a:t>raw data exists only inside this zone</a:t>
            </a:r>
            <a:endParaRPr lang="en-US" sz="1000" dirty="0"/>
          </a:p>
        </p:txBody>
      </p:sp>
      <p:sp>
        <p:nvSpPr>
          <p:cNvPr id="5" name="box Producer"/>
          <p:cNvSpPr/>
          <p:nvPr/>
        </p:nvSpPr>
        <p:spPr>
          <a:xfrm>
            <a:off x="457200" y="1280160"/>
            <a:ext cx="182880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A3A9B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280160"/>
            <a:ext cx="1828800" cy="7772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9"/>
                </a:solidFill>
              </a:rPr>
              <a:t>Producer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670"/>
                </a:solidFill>
              </a:rPr>
              <a:t>replays data in time order</a:t>
            </a:r>
            <a:endParaRPr lang="en-US" sz="1200" dirty="0"/>
          </a:p>
        </p:txBody>
      </p:sp>
      <p:sp>
        <p:nvSpPr>
          <p:cNvPr id="7" name="box Kafka events"/>
          <p:cNvSpPr/>
          <p:nvPr/>
        </p:nvSpPr>
        <p:spPr>
          <a:xfrm>
            <a:off x="2606040" y="1280160"/>
            <a:ext cx="182880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A3A9B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06040" y="1280160"/>
            <a:ext cx="1828800" cy="7772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9"/>
                </a:solidFill>
              </a:rPr>
              <a:t>Kafka events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670"/>
                </a:solidFill>
              </a:rPr>
              <a:t>one lane per edge</a:t>
            </a:r>
            <a:endParaRPr lang="en-US" sz="1200" dirty="0"/>
          </a:p>
        </p:txBody>
      </p:sp>
      <p:sp>
        <p:nvSpPr>
          <p:cNvPr id="9" name="box 8 Flower edges"/>
          <p:cNvSpPr/>
          <p:nvPr/>
        </p:nvSpPr>
        <p:spPr>
          <a:xfrm>
            <a:off x="4754880" y="1280160"/>
            <a:ext cx="1828800" cy="777240"/>
          </a:xfrm>
          <a:prstGeom prst="roundRect">
            <a:avLst>
              <a:gd name="adj" fmla="val 7059"/>
            </a:avLst>
          </a:prstGeom>
          <a:solidFill>
            <a:srgbClr val="E6F0FB"/>
          </a:solidFill>
          <a:ln w="22225">
            <a:solidFill>
              <a:srgbClr val="2A78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754880" y="1280160"/>
            <a:ext cx="1828800" cy="7772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9"/>
                </a:solidFill>
              </a:rPr>
              <a:t>8 Flower edges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670"/>
                </a:solidFill>
              </a:rPr>
              <a:t>sketch + noise share + mask</a:t>
            </a:r>
            <a:endParaRPr lang="en-US" sz="1200" dirty="0"/>
          </a:p>
        </p:txBody>
      </p:sp>
      <p:sp>
        <p:nvSpPr>
          <p:cNvPr id="11" name="box Flower server"/>
          <p:cNvSpPr/>
          <p:nvPr/>
        </p:nvSpPr>
        <p:spPr>
          <a:xfrm>
            <a:off x="6903720" y="1280160"/>
            <a:ext cx="182880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A3A9B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903720" y="1280160"/>
            <a:ext cx="1828800" cy="7772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9"/>
                </a:solidFill>
              </a:rPr>
              <a:t>Flower server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670"/>
                </a:solidFill>
              </a:rPr>
              <a:t>adds uploads, masks cancel</a:t>
            </a:r>
            <a:endParaRPr lang="en-US" sz="1200" dirty="0"/>
          </a:p>
        </p:txBody>
      </p:sp>
      <p:sp>
        <p:nvSpPr>
          <p:cNvPr id="13" name="box Kafka releases"/>
          <p:cNvSpPr/>
          <p:nvPr/>
        </p:nvSpPr>
        <p:spPr>
          <a:xfrm>
            <a:off x="6903720" y="2971800"/>
            <a:ext cx="182880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A3A9B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03720" y="2971800"/>
            <a:ext cx="1828800" cy="7772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9"/>
                </a:solidFill>
              </a:rPr>
              <a:t>Kafka releases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670"/>
                </a:solidFill>
              </a:rPr>
              <a:t>top-50 per window</a:t>
            </a:r>
            <a:endParaRPr lang="en-US" sz="1200" dirty="0"/>
          </a:p>
        </p:txBody>
      </p:sp>
      <p:sp>
        <p:nvSpPr>
          <p:cNvPr id="15" name="box Evaluator"/>
          <p:cNvSpPr/>
          <p:nvPr/>
        </p:nvSpPr>
        <p:spPr>
          <a:xfrm>
            <a:off x="4754880" y="2971800"/>
            <a:ext cx="182880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A3A9B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754880" y="2971800"/>
            <a:ext cx="1828800" cy="7772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9"/>
                </a:solidFill>
              </a:rPr>
              <a:t>Evaluator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670"/>
                </a:solidFill>
              </a:rPr>
              <a:t>scores vs exact truth</a:t>
            </a:r>
            <a:endParaRPr lang="en-US" sz="1200" dirty="0"/>
          </a:p>
        </p:txBody>
      </p:sp>
      <p:sp>
        <p:nvSpPr>
          <p:cNvPr id="17" name="box InfluxDB"/>
          <p:cNvSpPr/>
          <p:nvPr/>
        </p:nvSpPr>
        <p:spPr>
          <a:xfrm>
            <a:off x="2606040" y="2971800"/>
            <a:ext cx="182880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A3A9B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606040" y="2971800"/>
            <a:ext cx="1828800" cy="7772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9"/>
                </a:solidFill>
              </a:rPr>
              <a:t>InfluxDB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670"/>
                </a:solidFill>
              </a:rPr>
              <a:t>scores + system metrics</a:t>
            </a:r>
            <a:endParaRPr lang="en-US" sz="1200" dirty="0"/>
          </a:p>
        </p:txBody>
      </p:sp>
      <p:sp>
        <p:nvSpPr>
          <p:cNvPr id="19" name="box Grafana"/>
          <p:cNvSpPr/>
          <p:nvPr/>
        </p:nvSpPr>
        <p:spPr>
          <a:xfrm>
            <a:off x="457200" y="2971800"/>
            <a:ext cx="182880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A3A9B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" y="2971800"/>
            <a:ext cx="1828800" cy="7772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9"/>
                </a:solidFill>
              </a:rPr>
              <a:t>Grafana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670"/>
                </a:solidFill>
              </a:rPr>
              <a:t>live dashboard</a:t>
            </a:r>
            <a:endParaRPr lang="en-US" sz="1200" dirty="0"/>
          </a:p>
        </p:txBody>
      </p:sp>
      <p:sp>
        <p:nvSpPr>
          <p:cNvPr id="21" name="connector"/>
          <p:cNvSpPr/>
          <p:nvPr/>
        </p:nvSpPr>
        <p:spPr>
          <a:xfrm>
            <a:off x="2286000" y="1668780"/>
            <a:ext cx="320040" cy="0"/>
          </a:xfrm>
          <a:prstGeom prst="line">
            <a:avLst/>
          </a:prstGeom>
          <a:noFill/>
          <a:ln w="15875">
            <a:solidFill>
              <a:srgbClr val="7D848C"/>
            </a:solidFill>
            <a:prstDash val="solid"/>
            <a:tailEnd type="triangle"/>
          </a:ln>
        </p:spPr>
      </p:sp>
      <p:sp>
        <p:nvSpPr>
          <p:cNvPr id="22" name="connector"/>
          <p:cNvSpPr/>
          <p:nvPr/>
        </p:nvSpPr>
        <p:spPr>
          <a:xfrm>
            <a:off x="4434840" y="1668780"/>
            <a:ext cx="320040" cy="0"/>
          </a:xfrm>
          <a:prstGeom prst="line">
            <a:avLst/>
          </a:prstGeom>
          <a:noFill/>
          <a:ln w="15875">
            <a:solidFill>
              <a:srgbClr val="7D848C"/>
            </a:solidFill>
            <a:prstDash val="solid"/>
            <a:tailEnd type="triangle"/>
          </a:ln>
        </p:spPr>
      </p:sp>
      <p:sp>
        <p:nvSpPr>
          <p:cNvPr id="23" name="connector"/>
          <p:cNvSpPr/>
          <p:nvPr/>
        </p:nvSpPr>
        <p:spPr>
          <a:xfrm>
            <a:off x="6583680" y="1668780"/>
            <a:ext cx="320040" cy="0"/>
          </a:xfrm>
          <a:prstGeom prst="line">
            <a:avLst/>
          </a:prstGeom>
          <a:noFill/>
          <a:ln w="15875">
            <a:solidFill>
              <a:srgbClr val="7D848C"/>
            </a:solidFill>
            <a:prstDash val="solid"/>
            <a:tailEnd type="triangle"/>
          </a:ln>
        </p:spPr>
      </p:sp>
      <p:sp>
        <p:nvSpPr>
          <p:cNvPr id="24" name="connector"/>
          <p:cNvSpPr/>
          <p:nvPr/>
        </p:nvSpPr>
        <p:spPr>
          <a:xfrm>
            <a:off x="7818120" y="2057400"/>
            <a:ext cx="0" cy="914400"/>
          </a:xfrm>
          <a:prstGeom prst="line">
            <a:avLst/>
          </a:prstGeom>
          <a:noFill/>
          <a:ln w="15875">
            <a:solidFill>
              <a:srgbClr val="7D848C"/>
            </a:solidFill>
            <a:prstDash val="solid"/>
            <a:tailEnd type="triangle"/>
          </a:ln>
        </p:spPr>
      </p:sp>
      <p:sp>
        <p:nvSpPr>
          <p:cNvPr id="25" name="connector"/>
          <p:cNvSpPr/>
          <p:nvPr/>
        </p:nvSpPr>
        <p:spPr>
          <a:xfrm flipH="1">
            <a:off x="6583680" y="3360420"/>
            <a:ext cx="320040" cy="0"/>
          </a:xfrm>
          <a:prstGeom prst="line">
            <a:avLst/>
          </a:prstGeom>
          <a:noFill/>
          <a:ln w="15875">
            <a:solidFill>
              <a:srgbClr val="7D848C"/>
            </a:solidFill>
            <a:prstDash val="solid"/>
            <a:tailEnd type="triangle"/>
          </a:ln>
        </p:spPr>
      </p:sp>
      <p:sp>
        <p:nvSpPr>
          <p:cNvPr id="26" name="connector"/>
          <p:cNvSpPr/>
          <p:nvPr/>
        </p:nvSpPr>
        <p:spPr>
          <a:xfrm flipH="1">
            <a:off x="4434840" y="3360420"/>
            <a:ext cx="320040" cy="0"/>
          </a:xfrm>
          <a:prstGeom prst="line">
            <a:avLst/>
          </a:prstGeom>
          <a:noFill/>
          <a:ln w="15875">
            <a:solidFill>
              <a:srgbClr val="7D848C"/>
            </a:solidFill>
            <a:prstDash val="solid"/>
            <a:tailEnd type="triangle"/>
          </a:ln>
        </p:spPr>
      </p:sp>
      <p:sp>
        <p:nvSpPr>
          <p:cNvPr id="27" name="connector"/>
          <p:cNvSpPr/>
          <p:nvPr/>
        </p:nvSpPr>
        <p:spPr>
          <a:xfrm flipH="1">
            <a:off x="2286000" y="3360420"/>
            <a:ext cx="320040" cy="0"/>
          </a:xfrm>
          <a:prstGeom prst="line">
            <a:avLst/>
          </a:prstGeom>
          <a:noFill/>
          <a:ln w="15875">
            <a:solidFill>
              <a:srgbClr val="7D848C"/>
            </a:solidFill>
            <a:prstDash val="solid"/>
            <a:tailEnd type="triangle"/>
          </a:ln>
        </p:spPr>
      </p:sp>
      <p:sp>
        <p:nvSpPr>
          <p:cNvPr id="28" name="connector"/>
          <p:cNvSpPr/>
          <p:nvPr/>
        </p:nvSpPr>
        <p:spPr>
          <a:xfrm>
            <a:off x="3520440" y="2057400"/>
            <a:ext cx="0" cy="502920"/>
          </a:xfrm>
          <a:prstGeom prst="line">
            <a:avLst/>
          </a:prstGeom>
          <a:noFill/>
          <a:ln w="15875">
            <a:solidFill>
              <a:srgbClr val="7D848C"/>
            </a:solidFill>
            <a:prstDash val="dash"/>
          </a:ln>
        </p:spPr>
      </p:sp>
      <p:sp>
        <p:nvSpPr>
          <p:cNvPr id="29" name="connector"/>
          <p:cNvSpPr/>
          <p:nvPr/>
        </p:nvSpPr>
        <p:spPr>
          <a:xfrm>
            <a:off x="3520440" y="2560320"/>
            <a:ext cx="2148840" cy="0"/>
          </a:xfrm>
          <a:prstGeom prst="line">
            <a:avLst/>
          </a:prstGeom>
          <a:noFill/>
          <a:ln w="15875">
            <a:solidFill>
              <a:srgbClr val="7D848C"/>
            </a:solidFill>
            <a:prstDash val="dash"/>
          </a:ln>
        </p:spPr>
      </p:sp>
      <p:sp>
        <p:nvSpPr>
          <p:cNvPr id="30" name="connector"/>
          <p:cNvSpPr/>
          <p:nvPr/>
        </p:nvSpPr>
        <p:spPr>
          <a:xfrm>
            <a:off x="5669280" y="2560320"/>
            <a:ext cx="0" cy="411480"/>
          </a:xfrm>
          <a:prstGeom prst="line">
            <a:avLst/>
          </a:prstGeom>
          <a:noFill/>
          <a:ln w="15875">
            <a:solidFill>
              <a:srgbClr val="7D848C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611880" y="26060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F6670"/>
                </a:solidFill>
              </a:rPr>
              <a:t>ground truth, for grading only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670"/>
                </a:solidFill>
              </a:rPr>
              <a:t>Top row creates privacy (8 edges = 8 user groups, split by hashing user IDs); the bottom row only handles published answers.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9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Inside one round: sketch, mask, noise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329"/>
                </a:solidFill>
              </a:rPr>
              <a:t>CountSketch: a small table of counters</a:t>
            </a:r>
            <a:endParaRPr lang="en-US" sz="1300" dirty="0"/>
          </a:p>
        </p:txBody>
      </p:sp>
      <p:sp>
        <p:nvSpPr>
          <p:cNvPr id="4" name="box item"/>
          <p:cNvSpPr/>
          <p:nvPr/>
        </p:nvSpPr>
        <p:spPr>
          <a:xfrm>
            <a:off x="457200" y="1600200"/>
            <a:ext cx="10972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3A9B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600200"/>
            <a:ext cx="1097280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9"/>
                </a:solidFill>
              </a:rPr>
              <a:t>item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670"/>
                </a:solidFill>
              </a:rPr>
              <a:t>"paris"</a:t>
            </a:r>
            <a:endParaRPr lang="en-US" sz="1200" dirty="0"/>
          </a:p>
        </p:txBody>
      </p:sp>
      <p:sp>
        <p:nvSpPr>
          <p:cNvPr id="6" name="cell r0c0"/>
          <p:cNvSpPr/>
          <p:nvPr/>
        </p:nvSpPr>
        <p:spPr>
          <a:xfrm>
            <a:off x="1965960" y="1325880"/>
            <a:ext cx="32918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A3A9B0"/>
            </a:solidFill>
            <a:prstDash val="solid"/>
          </a:ln>
        </p:spPr>
      </p:sp>
      <p:sp>
        <p:nvSpPr>
          <p:cNvPr id="7" name="cell r0c1"/>
          <p:cNvSpPr/>
          <p:nvPr/>
        </p:nvSpPr>
        <p:spPr>
          <a:xfrm>
            <a:off x="2295144" y="1325880"/>
            <a:ext cx="32918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A3A9B0"/>
            </a:solidFill>
            <a:prstDash val="solid"/>
          </a:ln>
        </p:spPr>
      </p:sp>
      <p:sp>
        <p:nvSpPr>
          <p:cNvPr id="8" name="cell r0c2"/>
          <p:cNvSpPr/>
          <p:nvPr/>
        </p:nvSpPr>
        <p:spPr>
          <a:xfrm>
            <a:off x="2624328" y="1325880"/>
            <a:ext cx="32918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A3A9B0"/>
            </a:solidFill>
            <a:prstDash val="solid"/>
          </a:ln>
        </p:spPr>
      </p:sp>
      <p:sp>
        <p:nvSpPr>
          <p:cNvPr id="9" name="cell r0c3"/>
          <p:cNvSpPr/>
          <p:nvPr/>
        </p:nvSpPr>
        <p:spPr>
          <a:xfrm>
            <a:off x="2953512" y="1325880"/>
            <a:ext cx="32918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A3A9B0"/>
            </a:solidFill>
            <a:prstDash val="solid"/>
          </a:ln>
        </p:spPr>
      </p:sp>
      <p:sp>
        <p:nvSpPr>
          <p:cNvPr id="10" name="cell r0c4"/>
          <p:cNvSpPr/>
          <p:nvPr/>
        </p:nvSpPr>
        <p:spPr>
          <a:xfrm>
            <a:off x="3282696" y="1325880"/>
            <a:ext cx="32918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A3A9B0"/>
            </a:solidFill>
            <a:prstDash val="solid"/>
          </a:ln>
        </p:spPr>
      </p:sp>
      <p:sp>
        <p:nvSpPr>
          <p:cNvPr id="11" name="cell r0c5"/>
          <p:cNvSpPr/>
          <p:nvPr/>
        </p:nvSpPr>
        <p:spPr>
          <a:xfrm>
            <a:off x="3611880" y="1325880"/>
            <a:ext cx="329184" cy="274320"/>
          </a:xfrm>
          <a:prstGeom prst="rect">
            <a:avLst/>
          </a:prstGeom>
          <a:solidFill>
            <a:srgbClr val="E6F0FB"/>
          </a:solidFill>
          <a:ln w="19050">
            <a:solidFill>
              <a:srgbClr val="2A78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11880" y="132588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329"/>
                </a:solidFill>
              </a:rPr>
              <a:t>+1</a:t>
            </a:r>
            <a:endParaRPr lang="en-US" sz="1100" dirty="0"/>
          </a:p>
        </p:txBody>
      </p:sp>
      <p:sp>
        <p:nvSpPr>
          <p:cNvPr id="13" name="cell r0c6"/>
          <p:cNvSpPr/>
          <p:nvPr/>
        </p:nvSpPr>
        <p:spPr>
          <a:xfrm>
            <a:off x="3941064" y="1325880"/>
            <a:ext cx="32918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A3A9B0"/>
            </a:solidFill>
            <a:prstDash val="solid"/>
          </a:ln>
        </p:spPr>
      </p:sp>
      <p:sp>
        <p:nvSpPr>
          <p:cNvPr id="14" name="cell r0c7"/>
          <p:cNvSpPr/>
          <p:nvPr/>
        </p:nvSpPr>
        <p:spPr>
          <a:xfrm>
            <a:off x="4270248" y="1325880"/>
            <a:ext cx="32918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A3A9B0"/>
            </a:solidFill>
            <a:prstDash val="solid"/>
          </a:ln>
        </p:spPr>
      </p:sp>
      <p:sp>
        <p:nvSpPr>
          <p:cNvPr id="15" name="hash row 0"/>
          <p:cNvSpPr/>
          <p:nvPr/>
        </p:nvSpPr>
        <p:spPr>
          <a:xfrm flipV="1">
            <a:off x="1554480" y="1463040"/>
            <a:ext cx="411480" cy="365760"/>
          </a:xfrm>
          <a:prstGeom prst="line">
            <a:avLst/>
          </a:prstGeom>
          <a:noFill/>
          <a:ln w="15875">
            <a:solidFill>
              <a:srgbClr val="7D848C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4672584" y="13533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670"/>
                </a:solidFill>
              </a:rPr>
              <a:t>row 1</a:t>
            </a:r>
            <a:endParaRPr lang="en-US" sz="1000" dirty="0"/>
          </a:p>
        </p:txBody>
      </p:sp>
      <p:sp>
        <p:nvSpPr>
          <p:cNvPr id="17" name="cell r1c0"/>
          <p:cNvSpPr/>
          <p:nvPr/>
        </p:nvSpPr>
        <p:spPr>
          <a:xfrm>
            <a:off x="1965960" y="1691640"/>
            <a:ext cx="32918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A3A9B0"/>
            </a:solidFill>
            <a:prstDash val="solid"/>
          </a:ln>
        </p:spPr>
      </p:sp>
      <p:sp>
        <p:nvSpPr>
          <p:cNvPr id="18" name="cell r1c1"/>
          <p:cNvSpPr/>
          <p:nvPr/>
        </p:nvSpPr>
        <p:spPr>
          <a:xfrm>
            <a:off x="2295144" y="1691640"/>
            <a:ext cx="32918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A3A9B0"/>
            </a:solidFill>
            <a:prstDash val="solid"/>
          </a:ln>
        </p:spPr>
      </p:sp>
      <p:sp>
        <p:nvSpPr>
          <p:cNvPr id="19" name="cell r1c2"/>
          <p:cNvSpPr/>
          <p:nvPr/>
        </p:nvSpPr>
        <p:spPr>
          <a:xfrm>
            <a:off x="2624328" y="1691640"/>
            <a:ext cx="329184" cy="274320"/>
          </a:xfrm>
          <a:prstGeom prst="rect">
            <a:avLst/>
          </a:prstGeom>
          <a:solidFill>
            <a:srgbClr val="E6F0FB"/>
          </a:solidFill>
          <a:ln w="1905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624328" y="169164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329"/>
                </a:solidFill>
              </a:rPr>
              <a:t>−1</a:t>
            </a:r>
            <a:endParaRPr lang="en-US" sz="1100" dirty="0"/>
          </a:p>
        </p:txBody>
      </p:sp>
      <p:sp>
        <p:nvSpPr>
          <p:cNvPr id="21" name="cell r1c3"/>
          <p:cNvSpPr/>
          <p:nvPr/>
        </p:nvSpPr>
        <p:spPr>
          <a:xfrm>
            <a:off x="2953512" y="1691640"/>
            <a:ext cx="32918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A3A9B0"/>
            </a:solidFill>
            <a:prstDash val="solid"/>
          </a:ln>
        </p:spPr>
      </p:sp>
      <p:sp>
        <p:nvSpPr>
          <p:cNvPr id="22" name="cell r1c4"/>
          <p:cNvSpPr/>
          <p:nvPr/>
        </p:nvSpPr>
        <p:spPr>
          <a:xfrm>
            <a:off x="3282696" y="1691640"/>
            <a:ext cx="32918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A3A9B0"/>
            </a:solidFill>
            <a:prstDash val="solid"/>
          </a:ln>
        </p:spPr>
      </p:sp>
      <p:sp>
        <p:nvSpPr>
          <p:cNvPr id="23" name="cell r1c5"/>
          <p:cNvSpPr/>
          <p:nvPr/>
        </p:nvSpPr>
        <p:spPr>
          <a:xfrm>
            <a:off x="3611880" y="1691640"/>
            <a:ext cx="32918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A3A9B0"/>
            </a:solidFill>
            <a:prstDash val="solid"/>
          </a:ln>
        </p:spPr>
      </p:sp>
      <p:sp>
        <p:nvSpPr>
          <p:cNvPr id="24" name="cell r1c6"/>
          <p:cNvSpPr/>
          <p:nvPr/>
        </p:nvSpPr>
        <p:spPr>
          <a:xfrm>
            <a:off x="3941064" y="1691640"/>
            <a:ext cx="32918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A3A9B0"/>
            </a:solidFill>
            <a:prstDash val="solid"/>
          </a:ln>
        </p:spPr>
      </p:sp>
      <p:sp>
        <p:nvSpPr>
          <p:cNvPr id="25" name="cell r1c7"/>
          <p:cNvSpPr/>
          <p:nvPr/>
        </p:nvSpPr>
        <p:spPr>
          <a:xfrm>
            <a:off x="4270248" y="1691640"/>
            <a:ext cx="32918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A3A9B0"/>
            </a:solidFill>
            <a:prstDash val="solid"/>
          </a:ln>
        </p:spPr>
      </p:sp>
      <p:sp>
        <p:nvSpPr>
          <p:cNvPr id="26" name="hash row 1"/>
          <p:cNvSpPr/>
          <p:nvPr/>
        </p:nvSpPr>
        <p:spPr>
          <a:xfrm>
            <a:off x="1554480" y="1828800"/>
            <a:ext cx="411480" cy="0"/>
          </a:xfrm>
          <a:prstGeom prst="line">
            <a:avLst/>
          </a:prstGeom>
          <a:noFill/>
          <a:ln w="15875">
            <a:solidFill>
              <a:srgbClr val="7D848C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672584" y="1719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670"/>
                </a:solidFill>
              </a:rPr>
              <a:t>row 2</a:t>
            </a:r>
            <a:endParaRPr lang="en-US" sz="1000" dirty="0"/>
          </a:p>
        </p:txBody>
      </p:sp>
      <p:sp>
        <p:nvSpPr>
          <p:cNvPr id="28" name="cell r2c0"/>
          <p:cNvSpPr/>
          <p:nvPr/>
        </p:nvSpPr>
        <p:spPr>
          <a:xfrm>
            <a:off x="1965960" y="2057400"/>
            <a:ext cx="32918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A3A9B0"/>
            </a:solidFill>
            <a:prstDash val="solid"/>
          </a:ln>
        </p:spPr>
      </p:sp>
      <p:sp>
        <p:nvSpPr>
          <p:cNvPr id="29" name="cell r2c1"/>
          <p:cNvSpPr/>
          <p:nvPr/>
        </p:nvSpPr>
        <p:spPr>
          <a:xfrm>
            <a:off x="2295144" y="2057400"/>
            <a:ext cx="32918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A3A9B0"/>
            </a:solidFill>
            <a:prstDash val="solid"/>
          </a:ln>
        </p:spPr>
      </p:sp>
      <p:sp>
        <p:nvSpPr>
          <p:cNvPr id="30" name="cell r2c2"/>
          <p:cNvSpPr/>
          <p:nvPr/>
        </p:nvSpPr>
        <p:spPr>
          <a:xfrm>
            <a:off x="2624328" y="2057400"/>
            <a:ext cx="32918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A3A9B0"/>
            </a:solidFill>
            <a:prstDash val="solid"/>
          </a:ln>
        </p:spPr>
      </p:sp>
      <p:sp>
        <p:nvSpPr>
          <p:cNvPr id="31" name="cell r2c3"/>
          <p:cNvSpPr/>
          <p:nvPr/>
        </p:nvSpPr>
        <p:spPr>
          <a:xfrm>
            <a:off x="2953512" y="2057400"/>
            <a:ext cx="32918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A3A9B0"/>
            </a:solidFill>
            <a:prstDash val="solid"/>
          </a:ln>
        </p:spPr>
      </p:sp>
      <p:sp>
        <p:nvSpPr>
          <p:cNvPr id="32" name="cell r2c4"/>
          <p:cNvSpPr/>
          <p:nvPr/>
        </p:nvSpPr>
        <p:spPr>
          <a:xfrm>
            <a:off x="3282696" y="2057400"/>
            <a:ext cx="32918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A3A9B0"/>
            </a:solidFill>
            <a:prstDash val="solid"/>
          </a:ln>
        </p:spPr>
      </p:sp>
      <p:sp>
        <p:nvSpPr>
          <p:cNvPr id="33" name="cell r2c5"/>
          <p:cNvSpPr/>
          <p:nvPr/>
        </p:nvSpPr>
        <p:spPr>
          <a:xfrm>
            <a:off x="3611880" y="2057400"/>
            <a:ext cx="32918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A3A9B0"/>
            </a:solidFill>
            <a:prstDash val="solid"/>
          </a:ln>
        </p:spPr>
      </p:sp>
      <p:sp>
        <p:nvSpPr>
          <p:cNvPr id="34" name="cell r2c6"/>
          <p:cNvSpPr/>
          <p:nvPr/>
        </p:nvSpPr>
        <p:spPr>
          <a:xfrm>
            <a:off x="3941064" y="2057400"/>
            <a:ext cx="329184" cy="274320"/>
          </a:xfrm>
          <a:prstGeom prst="rect">
            <a:avLst/>
          </a:prstGeom>
          <a:solidFill>
            <a:srgbClr val="E6F0FB"/>
          </a:solidFill>
          <a:ln w="19050">
            <a:solidFill>
              <a:srgbClr val="2A78D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941064" y="205740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329"/>
                </a:solidFill>
              </a:rPr>
              <a:t>+1</a:t>
            </a:r>
            <a:endParaRPr lang="en-US" sz="1100" dirty="0"/>
          </a:p>
        </p:txBody>
      </p:sp>
      <p:sp>
        <p:nvSpPr>
          <p:cNvPr id="36" name="cell r2c7"/>
          <p:cNvSpPr/>
          <p:nvPr/>
        </p:nvSpPr>
        <p:spPr>
          <a:xfrm>
            <a:off x="4270248" y="2057400"/>
            <a:ext cx="32918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A3A9B0"/>
            </a:solidFill>
            <a:prstDash val="solid"/>
          </a:ln>
        </p:spPr>
      </p:sp>
      <p:sp>
        <p:nvSpPr>
          <p:cNvPr id="37" name="hash row 2"/>
          <p:cNvSpPr/>
          <p:nvPr/>
        </p:nvSpPr>
        <p:spPr>
          <a:xfrm>
            <a:off x="1554480" y="1828800"/>
            <a:ext cx="411480" cy="365760"/>
          </a:xfrm>
          <a:prstGeom prst="line">
            <a:avLst/>
          </a:prstGeom>
          <a:noFill/>
          <a:ln w="15875">
            <a:solidFill>
              <a:srgbClr val="7D848C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4672584" y="20848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670"/>
                </a:solidFill>
              </a:rPr>
              <a:t>row 3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246888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670"/>
                </a:solidFill>
              </a:rPr>
              <a:t>A hash picks one cell per row and a random sign. Estimate = median over rows. Sketches add cell by cell, so the 8 edges' sketches can be summed.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5212080" y="9144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329"/>
                </a:solidFill>
              </a:rPr>
              <a:t>Secure aggregation: masks cancel</a:t>
            </a:r>
            <a:endParaRPr lang="en-US" sz="1300" dirty="0"/>
          </a:p>
        </p:txBody>
      </p:sp>
      <p:sp>
        <p:nvSpPr>
          <p:cNvPr id="41" name="box Edge A"/>
          <p:cNvSpPr/>
          <p:nvPr/>
        </p:nvSpPr>
        <p:spPr>
          <a:xfrm>
            <a:off x="5212080" y="1325880"/>
            <a:ext cx="14173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A3A9B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212080" y="1325880"/>
            <a:ext cx="141732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9"/>
                </a:solidFill>
              </a:rPr>
              <a:t>Edge A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670"/>
                </a:solidFill>
              </a:rPr>
              <a:t>sends x₁ + r</a:t>
            </a:r>
            <a:endParaRPr lang="en-US" sz="1200" dirty="0"/>
          </a:p>
        </p:txBody>
      </p:sp>
      <p:sp>
        <p:nvSpPr>
          <p:cNvPr id="43" name="box Edge B"/>
          <p:cNvSpPr/>
          <p:nvPr/>
        </p:nvSpPr>
        <p:spPr>
          <a:xfrm>
            <a:off x="5212080" y="2103120"/>
            <a:ext cx="14173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A3A9B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212080" y="2103120"/>
            <a:ext cx="141732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9"/>
                </a:solidFill>
              </a:rPr>
              <a:t>Edge B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670"/>
                </a:solidFill>
              </a:rPr>
              <a:t>sends x₂ − r</a:t>
            </a:r>
            <a:endParaRPr lang="en-US" sz="1200" dirty="0"/>
          </a:p>
        </p:txBody>
      </p:sp>
      <p:sp>
        <p:nvSpPr>
          <p:cNvPr id="45" name="box Server"/>
          <p:cNvSpPr/>
          <p:nvPr/>
        </p:nvSpPr>
        <p:spPr>
          <a:xfrm>
            <a:off x="7269480" y="1709928"/>
            <a:ext cx="1417320" cy="548640"/>
          </a:xfrm>
          <a:prstGeom prst="roundRect">
            <a:avLst>
              <a:gd name="adj" fmla="val 10000"/>
            </a:avLst>
          </a:prstGeom>
          <a:solidFill>
            <a:srgbClr val="E6F0FB"/>
          </a:solidFill>
          <a:ln w="22225">
            <a:solidFill>
              <a:srgbClr val="2A78D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269480" y="1709928"/>
            <a:ext cx="141732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9"/>
                </a:solidFill>
              </a:rPr>
              <a:t>Server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670"/>
                </a:solidFill>
              </a:rPr>
              <a:t>sum = x₁ + x₂</a:t>
            </a:r>
            <a:endParaRPr lang="en-US" sz="1200" dirty="0"/>
          </a:p>
        </p:txBody>
      </p:sp>
      <p:sp>
        <p:nvSpPr>
          <p:cNvPr id="47" name="connector"/>
          <p:cNvSpPr/>
          <p:nvPr/>
        </p:nvSpPr>
        <p:spPr>
          <a:xfrm>
            <a:off x="6629400" y="1600200"/>
            <a:ext cx="640080" cy="320040"/>
          </a:xfrm>
          <a:prstGeom prst="line">
            <a:avLst/>
          </a:prstGeom>
          <a:noFill/>
          <a:ln w="15875">
            <a:solidFill>
              <a:srgbClr val="7D848C"/>
            </a:solidFill>
            <a:prstDash val="solid"/>
            <a:tailEnd type="triangle"/>
          </a:ln>
        </p:spPr>
      </p:sp>
      <p:sp>
        <p:nvSpPr>
          <p:cNvPr id="48" name="connector"/>
          <p:cNvSpPr/>
          <p:nvPr/>
        </p:nvSpPr>
        <p:spPr>
          <a:xfrm flipV="1">
            <a:off x="6629400" y="2075688"/>
            <a:ext cx="640080" cy="301752"/>
          </a:xfrm>
          <a:prstGeom prst="line">
            <a:avLst/>
          </a:prstGeom>
          <a:noFill/>
          <a:ln w="15875">
            <a:solidFill>
              <a:srgbClr val="7D848C"/>
            </a:solidFill>
            <a:prstDash val="solid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5212080" y="2788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670"/>
                </a:solidFill>
              </a:rPr>
              <a:t>A and B agree a random mask r by key exchange (X25519). Each upload alone looks random.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329"/>
                </a:solidFill>
              </a:rPr>
              <a:t>Privacy noise is split too</a:t>
            </a:r>
            <a:endParaRPr lang="en-US" sz="1300" dirty="0"/>
          </a:p>
        </p:txBody>
      </p:sp>
      <p:sp>
        <p:nvSpPr>
          <p:cNvPr id="51" name="box Each edge"/>
          <p:cNvSpPr/>
          <p:nvPr/>
        </p:nvSpPr>
        <p:spPr>
          <a:xfrm>
            <a:off x="457200" y="3657600"/>
            <a:ext cx="246888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A3A9B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57200" y="3657600"/>
            <a:ext cx="246888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9"/>
                </a:solidFill>
              </a:rPr>
              <a:t>Each edge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670"/>
                </a:solidFill>
              </a:rPr>
              <a:t>adds noise of variance σ²/8</a:t>
            </a:r>
            <a:endParaRPr lang="en-US" sz="1200" dirty="0"/>
          </a:p>
        </p:txBody>
      </p:sp>
      <p:sp>
        <p:nvSpPr>
          <p:cNvPr id="53" name="box Sum of 8 shares"/>
          <p:cNvSpPr/>
          <p:nvPr/>
        </p:nvSpPr>
        <p:spPr>
          <a:xfrm>
            <a:off x="3337560" y="3657600"/>
            <a:ext cx="246888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A3A9B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37560" y="3657600"/>
            <a:ext cx="246888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9"/>
                </a:solidFill>
              </a:rPr>
              <a:t>Sum of 8 shares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670"/>
                </a:solidFill>
              </a:rPr>
              <a:t>= full DP noise σ²</a:t>
            </a:r>
            <a:endParaRPr lang="en-US" sz="1200" dirty="0"/>
          </a:p>
        </p:txBody>
      </p:sp>
      <p:sp>
        <p:nvSpPr>
          <p:cNvPr id="55" name="box Server"/>
          <p:cNvSpPr/>
          <p:nvPr/>
        </p:nvSpPr>
        <p:spPr>
          <a:xfrm>
            <a:off x="6217920" y="3657600"/>
            <a:ext cx="2468880" cy="640080"/>
          </a:xfrm>
          <a:prstGeom prst="roundRect">
            <a:avLst>
              <a:gd name="adj" fmla="val 8571"/>
            </a:avLst>
          </a:prstGeom>
          <a:solidFill>
            <a:srgbClr val="E6F0FB"/>
          </a:solidFill>
          <a:ln w="22225">
            <a:solidFill>
              <a:srgbClr val="2A78D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217920" y="3657600"/>
            <a:ext cx="246888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9"/>
                </a:solidFill>
              </a:rPr>
              <a:t>Server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670"/>
                </a:solidFill>
              </a:rPr>
              <a:t>never sees a noise-free number</a:t>
            </a:r>
            <a:endParaRPr lang="en-US" sz="1200" dirty="0"/>
          </a:p>
        </p:txBody>
      </p:sp>
      <p:sp>
        <p:nvSpPr>
          <p:cNvPr id="57" name="connector"/>
          <p:cNvSpPr/>
          <p:nvPr/>
        </p:nvSpPr>
        <p:spPr>
          <a:xfrm>
            <a:off x="2926080" y="3977640"/>
            <a:ext cx="411480" cy="0"/>
          </a:xfrm>
          <a:prstGeom prst="line">
            <a:avLst/>
          </a:prstGeom>
          <a:noFill/>
          <a:ln w="15875">
            <a:solidFill>
              <a:srgbClr val="7D848C"/>
            </a:solidFill>
            <a:prstDash val="solid"/>
            <a:tailEnd type="triangle"/>
          </a:ln>
        </p:spPr>
      </p:sp>
      <p:sp>
        <p:nvSpPr>
          <p:cNvPr id="58" name="connector"/>
          <p:cNvSpPr/>
          <p:nvPr/>
        </p:nvSpPr>
        <p:spPr>
          <a:xfrm>
            <a:off x="5806440" y="3977640"/>
            <a:ext cx="411480" cy="0"/>
          </a:xfrm>
          <a:prstGeom prst="line">
            <a:avLst/>
          </a:prstGeom>
          <a:noFill/>
          <a:ln w="15875">
            <a:solidFill>
              <a:srgbClr val="7D848C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9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Our main addition: tree release with peeling</a:t>
            </a:r>
            <a:endParaRPr lang="en-US" sz="2400" dirty="0"/>
          </a:p>
        </p:txBody>
      </p:sp>
      <p:sp>
        <p:nvSpPr>
          <p:cNvPr id="3" name="node 1-1"/>
          <p:cNvSpPr/>
          <p:nvPr/>
        </p:nvSpPr>
        <p:spPr>
          <a:xfrm>
            <a:off x="457200" y="3017520"/>
            <a:ext cx="54864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A3A9B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3017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9"/>
                </a:solidFill>
              </a:rPr>
              <a:t>w1</a:t>
            </a:r>
            <a:endParaRPr lang="en-US" sz="1100" dirty="0"/>
          </a:p>
        </p:txBody>
      </p:sp>
      <p:sp>
        <p:nvSpPr>
          <p:cNvPr id="5" name="node 2-2"/>
          <p:cNvSpPr/>
          <p:nvPr/>
        </p:nvSpPr>
        <p:spPr>
          <a:xfrm>
            <a:off x="1115568" y="3017520"/>
            <a:ext cx="54864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A3A9B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15568" y="3017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9"/>
                </a:solidFill>
              </a:rPr>
              <a:t>w2</a:t>
            </a:r>
            <a:endParaRPr lang="en-US" sz="1100" dirty="0"/>
          </a:p>
        </p:txBody>
      </p:sp>
      <p:sp>
        <p:nvSpPr>
          <p:cNvPr id="7" name="node 3-3"/>
          <p:cNvSpPr/>
          <p:nvPr/>
        </p:nvSpPr>
        <p:spPr>
          <a:xfrm>
            <a:off x="1773936" y="3017520"/>
            <a:ext cx="54864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A3A9B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773936" y="3017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9"/>
                </a:solidFill>
              </a:rPr>
              <a:t>w3</a:t>
            </a:r>
            <a:endParaRPr lang="en-US" sz="1100" dirty="0"/>
          </a:p>
        </p:txBody>
      </p:sp>
      <p:sp>
        <p:nvSpPr>
          <p:cNvPr id="9" name="node 4-4"/>
          <p:cNvSpPr/>
          <p:nvPr/>
        </p:nvSpPr>
        <p:spPr>
          <a:xfrm>
            <a:off x="2432304" y="3017520"/>
            <a:ext cx="54864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A3A9B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432304" y="3017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9"/>
                </a:solidFill>
              </a:rPr>
              <a:t>w4</a:t>
            </a:r>
            <a:endParaRPr lang="en-US" sz="1100" dirty="0"/>
          </a:p>
        </p:txBody>
      </p:sp>
      <p:sp>
        <p:nvSpPr>
          <p:cNvPr id="11" name="node 5-5"/>
          <p:cNvSpPr/>
          <p:nvPr/>
        </p:nvSpPr>
        <p:spPr>
          <a:xfrm>
            <a:off x="3090672" y="3017520"/>
            <a:ext cx="54864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A3A9B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090672" y="3017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9"/>
                </a:solidFill>
              </a:rPr>
              <a:t>w5</a:t>
            </a:r>
            <a:endParaRPr lang="en-US" sz="1100" dirty="0"/>
          </a:p>
        </p:txBody>
      </p:sp>
      <p:sp>
        <p:nvSpPr>
          <p:cNvPr id="13" name="node 6-6"/>
          <p:cNvSpPr/>
          <p:nvPr/>
        </p:nvSpPr>
        <p:spPr>
          <a:xfrm>
            <a:off x="3749040" y="3017520"/>
            <a:ext cx="54864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A3A9B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749040" y="3017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9"/>
                </a:solidFill>
              </a:rPr>
              <a:t>w6</a:t>
            </a:r>
            <a:endParaRPr lang="en-US" sz="1100" dirty="0"/>
          </a:p>
        </p:txBody>
      </p:sp>
      <p:sp>
        <p:nvSpPr>
          <p:cNvPr id="15" name="node 7-7"/>
          <p:cNvSpPr/>
          <p:nvPr/>
        </p:nvSpPr>
        <p:spPr>
          <a:xfrm>
            <a:off x="4407408" y="3017520"/>
            <a:ext cx="548640" cy="365760"/>
          </a:xfrm>
          <a:prstGeom prst="roundRect">
            <a:avLst>
              <a:gd name="adj" fmla="val 12500"/>
            </a:avLst>
          </a:prstGeom>
          <a:solidFill>
            <a:srgbClr val="E6F0FB"/>
          </a:solidFill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07408" y="3017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329"/>
                </a:solidFill>
              </a:rPr>
              <a:t>w7</a:t>
            </a:r>
            <a:endParaRPr lang="en-US" sz="1100" dirty="0"/>
          </a:p>
        </p:txBody>
      </p:sp>
      <p:sp>
        <p:nvSpPr>
          <p:cNvPr id="17" name="node 8-8"/>
          <p:cNvSpPr/>
          <p:nvPr/>
        </p:nvSpPr>
        <p:spPr>
          <a:xfrm>
            <a:off x="5065776" y="3017520"/>
            <a:ext cx="54864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A3A9B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65776" y="3017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9"/>
                </a:solidFill>
              </a:rPr>
              <a:t>w8</a:t>
            </a:r>
            <a:endParaRPr lang="en-US" sz="1100" dirty="0"/>
          </a:p>
        </p:txBody>
      </p:sp>
      <p:sp>
        <p:nvSpPr>
          <p:cNvPr id="19" name="node 1-2"/>
          <p:cNvSpPr/>
          <p:nvPr/>
        </p:nvSpPr>
        <p:spPr>
          <a:xfrm>
            <a:off x="493776" y="2377440"/>
            <a:ext cx="1133856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A3A9B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93776" y="2377440"/>
            <a:ext cx="1133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9"/>
                </a:solidFill>
              </a:rPr>
              <a:t>w1–2</a:t>
            </a:r>
            <a:endParaRPr lang="en-US" sz="1100" dirty="0"/>
          </a:p>
        </p:txBody>
      </p:sp>
      <p:sp>
        <p:nvSpPr>
          <p:cNvPr id="21" name="connector"/>
          <p:cNvSpPr/>
          <p:nvPr/>
        </p:nvSpPr>
        <p:spPr>
          <a:xfrm flipH="1">
            <a:off x="731520" y="2743200"/>
            <a:ext cx="329184" cy="274320"/>
          </a:xfrm>
          <a:prstGeom prst="line">
            <a:avLst/>
          </a:prstGeom>
          <a:noFill/>
          <a:ln w="12700">
            <a:solidFill>
              <a:srgbClr val="A3A9B0"/>
            </a:solidFill>
            <a:prstDash val="solid"/>
          </a:ln>
        </p:spPr>
      </p:sp>
      <p:sp>
        <p:nvSpPr>
          <p:cNvPr id="22" name="connector"/>
          <p:cNvSpPr/>
          <p:nvPr/>
        </p:nvSpPr>
        <p:spPr>
          <a:xfrm>
            <a:off x="1060704" y="2743200"/>
            <a:ext cx="329184" cy="274320"/>
          </a:xfrm>
          <a:prstGeom prst="line">
            <a:avLst/>
          </a:prstGeom>
          <a:noFill/>
          <a:ln w="12700">
            <a:solidFill>
              <a:srgbClr val="A3A9B0"/>
            </a:solidFill>
            <a:prstDash val="solid"/>
          </a:ln>
        </p:spPr>
      </p:sp>
      <p:sp>
        <p:nvSpPr>
          <p:cNvPr id="23" name="node 3-4"/>
          <p:cNvSpPr/>
          <p:nvPr/>
        </p:nvSpPr>
        <p:spPr>
          <a:xfrm>
            <a:off x="1810512" y="2377440"/>
            <a:ext cx="1133856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A3A9B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810512" y="2377440"/>
            <a:ext cx="1133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9"/>
                </a:solidFill>
              </a:rPr>
              <a:t>w3–4</a:t>
            </a:r>
            <a:endParaRPr lang="en-US" sz="1100" dirty="0"/>
          </a:p>
        </p:txBody>
      </p:sp>
      <p:sp>
        <p:nvSpPr>
          <p:cNvPr id="25" name="connector"/>
          <p:cNvSpPr/>
          <p:nvPr/>
        </p:nvSpPr>
        <p:spPr>
          <a:xfrm flipH="1">
            <a:off x="2048256" y="2743200"/>
            <a:ext cx="329184" cy="274320"/>
          </a:xfrm>
          <a:prstGeom prst="line">
            <a:avLst/>
          </a:prstGeom>
          <a:noFill/>
          <a:ln w="12700">
            <a:solidFill>
              <a:srgbClr val="A3A9B0"/>
            </a:solidFill>
            <a:prstDash val="solid"/>
          </a:ln>
        </p:spPr>
      </p:sp>
      <p:sp>
        <p:nvSpPr>
          <p:cNvPr id="26" name="connector"/>
          <p:cNvSpPr/>
          <p:nvPr/>
        </p:nvSpPr>
        <p:spPr>
          <a:xfrm>
            <a:off x="2377440" y="2743200"/>
            <a:ext cx="329184" cy="274320"/>
          </a:xfrm>
          <a:prstGeom prst="line">
            <a:avLst/>
          </a:prstGeom>
          <a:noFill/>
          <a:ln w="12700">
            <a:solidFill>
              <a:srgbClr val="A3A9B0"/>
            </a:solidFill>
            <a:prstDash val="solid"/>
          </a:ln>
        </p:spPr>
      </p:sp>
      <p:sp>
        <p:nvSpPr>
          <p:cNvPr id="27" name="node 5-6"/>
          <p:cNvSpPr/>
          <p:nvPr/>
        </p:nvSpPr>
        <p:spPr>
          <a:xfrm>
            <a:off x="3127248" y="2377440"/>
            <a:ext cx="1133856" cy="365760"/>
          </a:xfrm>
          <a:prstGeom prst="roundRect">
            <a:avLst>
              <a:gd name="adj" fmla="val 12500"/>
            </a:avLst>
          </a:prstGeom>
          <a:solidFill>
            <a:srgbClr val="E6F0FB"/>
          </a:solidFill>
          <a:ln w="22225">
            <a:solidFill>
              <a:srgbClr val="2A78D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127248" y="2377440"/>
            <a:ext cx="1133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329"/>
                </a:solidFill>
              </a:rPr>
              <a:t>w5–6</a:t>
            </a:r>
            <a:endParaRPr lang="en-US" sz="1100" dirty="0"/>
          </a:p>
        </p:txBody>
      </p:sp>
      <p:sp>
        <p:nvSpPr>
          <p:cNvPr id="29" name="connector"/>
          <p:cNvSpPr/>
          <p:nvPr/>
        </p:nvSpPr>
        <p:spPr>
          <a:xfrm flipH="1">
            <a:off x="3364992" y="2743200"/>
            <a:ext cx="329184" cy="274320"/>
          </a:xfrm>
          <a:prstGeom prst="line">
            <a:avLst/>
          </a:prstGeom>
          <a:noFill/>
          <a:ln w="12700">
            <a:solidFill>
              <a:srgbClr val="A3A9B0"/>
            </a:solidFill>
            <a:prstDash val="solid"/>
          </a:ln>
        </p:spPr>
      </p:sp>
      <p:sp>
        <p:nvSpPr>
          <p:cNvPr id="30" name="connector"/>
          <p:cNvSpPr/>
          <p:nvPr/>
        </p:nvSpPr>
        <p:spPr>
          <a:xfrm>
            <a:off x="3694176" y="2743200"/>
            <a:ext cx="329184" cy="274320"/>
          </a:xfrm>
          <a:prstGeom prst="line">
            <a:avLst/>
          </a:prstGeom>
          <a:noFill/>
          <a:ln w="12700">
            <a:solidFill>
              <a:srgbClr val="A3A9B0"/>
            </a:solidFill>
            <a:prstDash val="solid"/>
          </a:ln>
        </p:spPr>
      </p:sp>
      <p:sp>
        <p:nvSpPr>
          <p:cNvPr id="31" name="node 7-8"/>
          <p:cNvSpPr/>
          <p:nvPr/>
        </p:nvSpPr>
        <p:spPr>
          <a:xfrm>
            <a:off x="4443984" y="2377440"/>
            <a:ext cx="1133856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A3A9B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443984" y="2377440"/>
            <a:ext cx="1133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9"/>
                </a:solidFill>
              </a:rPr>
              <a:t>w7–8</a:t>
            </a:r>
            <a:endParaRPr lang="en-US" sz="1100" dirty="0"/>
          </a:p>
        </p:txBody>
      </p:sp>
      <p:sp>
        <p:nvSpPr>
          <p:cNvPr id="33" name="connector"/>
          <p:cNvSpPr/>
          <p:nvPr/>
        </p:nvSpPr>
        <p:spPr>
          <a:xfrm flipH="1">
            <a:off x="4681728" y="2743200"/>
            <a:ext cx="329184" cy="274320"/>
          </a:xfrm>
          <a:prstGeom prst="line">
            <a:avLst/>
          </a:prstGeom>
          <a:noFill/>
          <a:ln w="12700">
            <a:solidFill>
              <a:srgbClr val="A3A9B0"/>
            </a:solidFill>
            <a:prstDash val="solid"/>
          </a:ln>
        </p:spPr>
      </p:sp>
      <p:sp>
        <p:nvSpPr>
          <p:cNvPr id="34" name="connector"/>
          <p:cNvSpPr/>
          <p:nvPr/>
        </p:nvSpPr>
        <p:spPr>
          <a:xfrm>
            <a:off x="5010912" y="2743200"/>
            <a:ext cx="329184" cy="274320"/>
          </a:xfrm>
          <a:prstGeom prst="line">
            <a:avLst/>
          </a:prstGeom>
          <a:noFill/>
          <a:ln w="12700">
            <a:solidFill>
              <a:srgbClr val="A3A9B0"/>
            </a:solidFill>
            <a:prstDash val="solid"/>
          </a:ln>
        </p:spPr>
      </p:sp>
      <p:sp>
        <p:nvSpPr>
          <p:cNvPr id="35" name="node 1-4"/>
          <p:cNvSpPr/>
          <p:nvPr/>
        </p:nvSpPr>
        <p:spPr>
          <a:xfrm>
            <a:off x="530352" y="1737360"/>
            <a:ext cx="2377440" cy="365760"/>
          </a:xfrm>
          <a:prstGeom prst="roundRect">
            <a:avLst>
              <a:gd name="adj" fmla="val 12500"/>
            </a:avLst>
          </a:prstGeom>
          <a:solidFill>
            <a:srgbClr val="E6F0FB"/>
          </a:solidFill>
          <a:ln w="22225">
            <a:solidFill>
              <a:srgbClr val="2A78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30352" y="17373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329"/>
                </a:solidFill>
              </a:rPr>
              <a:t>w1–4</a:t>
            </a:r>
            <a:endParaRPr lang="en-US" sz="1100" dirty="0"/>
          </a:p>
        </p:txBody>
      </p:sp>
      <p:sp>
        <p:nvSpPr>
          <p:cNvPr id="37" name="connector"/>
          <p:cNvSpPr/>
          <p:nvPr/>
        </p:nvSpPr>
        <p:spPr>
          <a:xfrm flipH="1">
            <a:off x="1060704" y="2103120"/>
            <a:ext cx="658368" cy="274320"/>
          </a:xfrm>
          <a:prstGeom prst="line">
            <a:avLst/>
          </a:prstGeom>
          <a:noFill/>
          <a:ln w="12700">
            <a:solidFill>
              <a:srgbClr val="A3A9B0"/>
            </a:solidFill>
            <a:prstDash val="solid"/>
          </a:ln>
        </p:spPr>
      </p:sp>
      <p:sp>
        <p:nvSpPr>
          <p:cNvPr id="38" name="connector"/>
          <p:cNvSpPr/>
          <p:nvPr/>
        </p:nvSpPr>
        <p:spPr>
          <a:xfrm>
            <a:off x="1719072" y="2103120"/>
            <a:ext cx="658368" cy="274320"/>
          </a:xfrm>
          <a:prstGeom prst="line">
            <a:avLst/>
          </a:prstGeom>
          <a:noFill/>
          <a:ln w="12700">
            <a:solidFill>
              <a:srgbClr val="A3A9B0"/>
            </a:solidFill>
            <a:prstDash val="solid"/>
          </a:ln>
        </p:spPr>
      </p:sp>
      <p:sp>
        <p:nvSpPr>
          <p:cNvPr id="39" name="node 5-8"/>
          <p:cNvSpPr/>
          <p:nvPr/>
        </p:nvSpPr>
        <p:spPr>
          <a:xfrm>
            <a:off x="3163824" y="1737360"/>
            <a:ext cx="237744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A3A9B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3163824" y="17373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9"/>
                </a:solidFill>
              </a:rPr>
              <a:t>w5–8</a:t>
            </a:r>
            <a:endParaRPr lang="en-US" sz="1100" dirty="0"/>
          </a:p>
        </p:txBody>
      </p:sp>
      <p:sp>
        <p:nvSpPr>
          <p:cNvPr id="41" name="connector"/>
          <p:cNvSpPr/>
          <p:nvPr/>
        </p:nvSpPr>
        <p:spPr>
          <a:xfrm flipH="1">
            <a:off x="3694176" y="2103120"/>
            <a:ext cx="658368" cy="274320"/>
          </a:xfrm>
          <a:prstGeom prst="line">
            <a:avLst/>
          </a:prstGeom>
          <a:noFill/>
          <a:ln w="12700">
            <a:solidFill>
              <a:srgbClr val="A3A9B0"/>
            </a:solidFill>
            <a:prstDash val="solid"/>
          </a:ln>
        </p:spPr>
      </p:sp>
      <p:sp>
        <p:nvSpPr>
          <p:cNvPr id="42" name="connector"/>
          <p:cNvSpPr/>
          <p:nvPr/>
        </p:nvSpPr>
        <p:spPr>
          <a:xfrm>
            <a:off x="4352544" y="2103120"/>
            <a:ext cx="658368" cy="274320"/>
          </a:xfrm>
          <a:prstGeom prst="line">
            <a:avLst/>
          </a:prstGeom>
          <a:noFill/>
          <a:ln w="12700">
            <a:solidFill>
              <a:srgbClr val="A3A9B0"/>
            </a:solidFill>
            <a:prstDash val="solid"/>
          </a:ln>
        </p:spPr>
      </p:sp>
      <p:sp>
        <p:nvSpPr>
          <p:cNvPr id="43" name="node 1-8"/>
          <p:cNvSpPr/>
          <p:nvPr/>
        </p:nvSpPr>
        <p:spPr>
          <a:xfrm>
            <a:off x="566928" y="1097280"/>
            <a:ext cx="4937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A3A9B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66928" y="10972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9"/>
                </a:solidFill>
              </a:rPr>
              <a:t>w1–8</a:t>
            </a:r>
            <a:endParaRPr lang="en-US" sz="1100" dirty="0"/>
          </a:p>
        </p:txBody>
      </p:sp>
      <p:sp>
        <p:nvSpPr>
          <p:cNvPr id="45" name="connector"/>
          <p:cNvSpPr/>
          <p:nvPr/>
        </p:nvSpPr>
        <p:spPr>
          <a:xfrm flipH="1">
            <a:off x="1719072" y="1463040"/>
            <a:ext cx="1316736" cy="274320"/>
          </a:xfrm>
          <a:prstGeom prst="line">
            <a:avLst/>
          </a:prstGeom>
          <a:noFill/>
          <a:ln w="12700">
            <a:solidFill>
              <a:srgbClr val="A3A9B0"/>
            </a:solidFill>
            <a:prstDash val="solid"/>
          </a:ln>
        </p:spPr>
      </p:sp>
      <p:sp>
        <p:nvSpPr>
          <p:cNvPr id="46" name="connector"/>
          <p:cNvSpPr/>
          <p:nvPr/>
        </p:nvSpPr>
        <p:spPr>
          <a:xfrm>
            <a:off x="3035808" y="1463040"/>
            <a:ext cx="1316736" cy="274320"/>
          </a:xfrm>
          <a:prstGeom prst="line">
            <a:avLst/>
          </a:prstGeom>
          <a:noFill/>
          <a:ln w="12700">
            <a:solidFill>
              <a:srgbClr val="A3A9B0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57200" y="352044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670"/>
                </a:solidFill>
              </a:rPr>
              <a:t>Total of windows 1–7: the baseline adds 7 noisy window sketches; the tree adds only the 3 blue nodes. Noise grows with log t instead of t.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5943600" y="1097280"/>
            <a:ext cx="2743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9"/>
                </a:solidFill>
              </a:rPr>
              <a:t>Side effect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F6670"/>
                </a:solidFill>
              </a:rPr>
              <a:t>Tree nodes must share the same +/− signs to be added, which removes HybridSketch's error cancelling. Very popular items then leak error into other items' cells.</a:t>
            </a:r>
            <a:endParaRPr lang="en-US" sz="1200" dirty="0"/>
          </a:p>
          <a:p>
            <a:pPr indent="0" marL="0">
              <a:buNone/>
            </a:pPr>
            <a:r>
              <a:rPr lang="en-US" sz="600" dirty="0">
                <a:solidFill>
                  <a:srgbClr val="1F2329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F2329"/>
                </a:solidFill>
              </a:rPr>
              <a:t>Fix: peeling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F6670"/>
                </a:solidFill>
              </a:rPr>
              <a:t>Estimate the top 200 items, subtract them from each node, read everything else from the remainder. 5.7× lower error; pure arithmetic, so no privacy cost.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9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Other additions and two recommended setups</a:t>
            </a:r>
            <a:endParaRPr lang="en-US" sz="2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749040"/>
                <a:gridCol w="1645920"/>
                <a:gridCol w="1463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Addition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Benefit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/ caveat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Adaptive width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Picks the smallest accurate sketch from the last release (Paper 1's sizing rule)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 upload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extra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Drift detector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top-50 overlap drops below half its usual level, restart the 7-window history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recovery after change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 alarms on tweets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IBLT layer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Lists popular items directly from an invertible 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candidate list needed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2–4× upload; not DP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box SHS-W = adaptive width + drift detector"/>
          <p:cNvSpPr/>
          <p:nvPr/>
        </p:nvSpPr>
        <p:spPr>
          <a:xfrm>
            <a:off x="457200" y="3063240"/>
            <a:ext cx="3931920" cy="1005840"/>
          </a:xfrm>
          <a:prstGeom prst="roundRect">
            <a:avLst>
              <a:gd name="adj" fmla="val 5455"/>
            </a:avLst>
          </a:prstGeom>
          <a:solidFill>
            <a:srgbClr val="E6F0FB"/>
          </a:solidFill>
          <a:ln w="22225">
            <a:solidFill>
              <a:srgbClr val="2A78D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3063240"/>
            <a:ext cx="3931920" cy="10058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329"/>
                </a:solidFill>
              </a:rPr>
              <a:t>SHS-W = adaptive width + drift detector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F6670"/>
                </a:solidFill>
              </a:rPr>
              <a:t>for "what is popular now" (window) questions</a:t>
            </a:r>
            <a:endParaRPr lang="en-US" sz="1300" dirty="0"/>
          </a:p>
        </p:txBody>
      </p:sp>
      <p:sp>
        <p:nvSpPr>
          <p:cNvPr id="6" name="box SHS-C = tree + peeling + drift detector"/>
          <p:cNvSpPr/>
          <p:nvPr/>
        </p:nvSpPr>
        <p:spPr>
          <a:xfrm>
            <a:off x="4754880" y="3063240"/>
            <a:ext cx="393192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A3A9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754880" y="3063240"/>
            <a:ext cx="3931920" cy="10058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329"/>
                </a:solidFill>
              </a:rPr>
              <a:t>SHS-C = tree + peeling + drift detector</a:t>
            </a:r>
            <a:endParaRPr lang="en-US" sz="13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F6670"/>
                </a:solidFill>
              </a:rPr>
              <a:t>for totals since the start, at strict privacy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670"/>
                </a:solidFill>
              </a:rPr>
              <a:t>Turning everything on at once was worse than either, so we recommend picking by question.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9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Key results</a:t>
            </a:r>
            <a:endParaRPr lang="en-US" sz="2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42976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731520"/>
                <a:gridCol w="13716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 (ε = 1 unless noted)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Rounds to recover after a drift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(SHS-W, SHS-C)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Top-50 F1 in the 7 rounds after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 per edge per round, Gowalla (same F1)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KiB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 KiB (SHS-W)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 per edge per round, synthetic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KiB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 KiB (SHS-W)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Long-run error at ε = 0.125, Gowalla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4394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2146 (tree + peeling)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round time / unmask cost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 s / 1.6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4" name="drift chart" descr="C:/Users/hafiz/Downloads/workdir/sdproject/fedsketch-streaming/results/figures/drift_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960120"/>
            <a:ext cx="3749040" cy="1948565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937760" y="297180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670"/>
                </a:solidFill>
              </a:rPr>
              <a:t>Synthetic stream: the baseline (blue) collapses at rounds 70 and 140; ours recover within a round or two.</a:t>
            </a:r>
            <a:endParaRPr lang="en-US" sz="11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3611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670"/>
                </a:solidFill>
              </a:rPr>
              <a:t>Data: Gowalla check-ins (295 daily rounds), Sentiment140 tweets (124 six-hour rounds), synthetic stream (200 rounds, top-200 items swapped at 70 and 140). 8 edges, sketch 5 x 2048. Live pipeline and offline runs agree (F1 within 0.04).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9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What reproduced, and what did not work</a:t>
            </a:r>
            <a:endParaRPr lang="en-US" sz="2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4023360"/>
              </a:tblGrid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 1: two-phase rule picks a much smaller sketch?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Yes: 6–16× smaller, target error met in 76–96% of trials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 1: HybridSketch beats SharedSketch?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Yes: 3.2–3.5× lower error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 1: FreshSketch about equal to HybridSketch?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No: Fresh was 1.15–1.4× better in our tests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 2: TrieHH finds top words precisely?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Yes: precision 0.86–1.00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Does the tree help at normal privacy (ε ≥ 0.5)?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No: the baseline is better there and on window questions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Does turning on every addition help?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No: worse than SHS-W or SHS-C alone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the IBLT cheaper than CountSketch + list?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No: 2–4× more upload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the drift detector reliable on tweets?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Partly: false alarms cost 0.13 F1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9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Live demo: what to watch</a:t>
            </a:r>
            <a:endParaRPr lang="en-US" sz="2400" dirty="0"/>
          </a:p>
        </p:txBody>
      </p:sp>
      <p:sp>
        <p:nvSpPr>
          <p:cNvPr id="3" name="time axis"/>
          <p:cNvSpPr/>
          <p:nvPr/>
        </p:nvSpPr>
        <p:spPr>
          <a:xfrm>
            <a:off x="731520" y="1828800"/>
            <a:ext cx="7680960" cy="0"/>
          </a:xfrm>
          <a:prstGeom prst="line">
            <a:avLst/>
          </a:prstGeom>
          <a:noFill/>
          <a:ln w="19050">
            <a:solidFill>
              <a:srgbClr val="1F2329"/>
            </a:solidFill>
            <a:prstDash val="solid"/>
          </a:ln>
        </p:spPr>
      </p:sp>
      <p:sp>
        <p:nvSpPr>
          <p:cNvPr id="4" name="tick 0"/>
          <p:cNvSpPr/>
          <p:nvPr/>
        </p:nvSpPr>
        <p:spPr>
          <a:xfrm>
            <a:off x="731520" y="1755648"/>
            <a:ext cx="0" cy="146304"/>
          </a:xfrm>
          <a:prstGeom prst="line">
            <a:avLst/>
          </a:prstGeom>
          <a:noFill/>
          <a:ln w="12700">
            <a:solidFill>
              <a:srgbClr val="1F232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93852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670"/>
                </a:solidFill>
              </a:rPr>
              <a:t>0</a:t>
            </a:r>
            <a:endParaRPr lang="en-US" sz="1100" dirty="0"/>
          </a:p>
        </p:txBody>
      </p:sp>
      <p:sp>
        <p:nvSpPr>
          <p:cNvPr id="6" name="tick 70"/>
          <p:cNvSpPr/>
          <p:nvPr/>
        </p:nvSpPr>
        <p:spPr>
          <a:xfrm>
            <a:off x="4315968" y="1755648"/>
            <a:ext cx="0" cy="146304"/>
          </a:xfrm>
          <a:prstGeom prst="line">
            <a:avLst/>
          </a:prstGeom>
          <a:noFill/>
          <a:ln w="12700">
            <a:solidFill>
              <a:srgbClr val="1F232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041648" y="193852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670"/>
                </a:solidFill>
              </a:rPr>
              <a:t>70</a:t>
            </a:r>
            <a:endParaRPr lang="en-US" sz="1100" dirty="0"/>
          </a:p>
        </p:txBody>
      </p:sp>
      <p:sp>
        <p:nvSpPr>
          <p:cNvPr id="8" name="tick 140"/>
          <p:cNvSpPr/>
          <p:nvPr/>
        </p:nvSpPr>
        <p:spPr>
          <a:xfrm>
            <a:off x="7900416" y="1755648"/>
            <a:ext cx="0" cy="146304"/>
          </a:xfrm>
          <a:prstGeom prst="line">
            <a:avLst/>
          </a:prstGeom>
          <a:noFill/>
          <a:ln w="12700">
            <a:solidFill>
              <a:srgbClr val="1F232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626096" y="193852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670"/>
                </a:solidFill>
              </a:rPr>
              <a:t>140</a:t>
            </a:r>
            <a:endParaRPr lang="en-US" sz="1100" dirty="0"/>
          </a:p>
        </p:txBody>
      </p:sp>
      <p:sp>
        <p:nvSpPr>
          <p:cNvPr id="10" name="tick 150"/>
          <p:cNvSpPr/>
          <p:nvPr/>
        </p:nvSpPr>
        <p:spPr>
          <a:xfrm>
            <a:off x="8412480" y="1755648"/>
            <a:ext cx="0" cy="146304"/>
          </a:xfrm>
          <a:prstGeom prst="line">
            <a:avLst/>
          </a:prstGeom>
          <a:noFill/>
          <a:ln w="12700">
            <a:solidFill>
              <a:srgbClr val="1F232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0" y="1938528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670"/>
                </a:solidFill>
              </a:rPr>
              <a:t>150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216712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0"/>
                </a:solidFill>
              </a:rPr>
              <a:t>round</a:t>
            </a:r>
            <a:endParaRPr lang="en-US" sz="1000" dirty="0"/>
          </a:p>
        </p:txBody>
      </p:sp>
      <p:sp>
        <p:nvSpPr>
          <p:cNvPr id="13" name="drift 70"/>
          <p:cNvSpPr/>
          <p:nvPr/>
        </p:nvSpPr>
        <p:spPr>
          <a:xfrm>
            <a:off x="4315968" y="1051560"/>
            <a:ext cx="0" cy="777240"/>
          </a:xfrm>
          <a:prstGeom prst="line">
            <a:avLst/>
          </a:prstGeom>
          <a:noFill/>
          <a:ln w="15875">
            <a:solidFill>
              <a:srgbClr val="2A78D6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3401568" y="8686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78D6"/>
                </a:solidFill>
              </a:rPr>
              <a:t>top-200 items swapped</a:t>
            </a:r>
            <a:endParaRPr lang="en-US" sz="1000" dirty="0"/>
          </a:p>
        </p:txBody>
      </p:sp>
      <p:sp>
        <p:nvSpPr>
          <p:cNvPr id="15" name="drift 140"/>
          <p:cNvSpPr/>
          <p:nvPr/>
        </p:nvSpPr>
        <p:spPr>
          <a:xfrm>
            <a:off x="7900416" y="1051560"/>
            <a:ext cx="0" cy="777240"/>
          </a:xfrm>
          <a:prstGeom prst="line">
            <a:avLst/>
          </a:prstGeom>
          <a:noFill/>
          <a:ln w="15875">
            <a:solidFill>
              <a:srgbClr val="2A78D6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6986016" y="8686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78D6"/>
                </a:solidFill>
              </a:rPr>
              <a:t>top-200 items swapped</a:t>
            </a:r>
            <a:endParaRPr lang="en-US" sz="1000" dirty="0"/>
          </a:p>
        </p:txBody>
      </p:sp>
      <p:sp>
        <p:nvSpPr>
          <p:cNvPr id="17" name="box Baseline (green line in Grafana)"/>
          <p:cNvSpPr/>
          <p:nvPr/>
        </p:nvSpPr>
        <p:spPr>
          <a:xfrm>
            <a:off x="457200" y="2514600"/>
            <a:ext cx="393192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A3A9B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2514600"/>
            <a:ext cx="393192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9"/>
                </a:solidFill>
              </a:rPr>
              <a:t>Baseline (green line in Grafana)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670"/>
                </a:solidFill>
              </a:rPr>
              <a:t>F1 drops to ~0.45, about 5 rounds to recover</a:t>
            </a:r>
            <a:endParaRPr lang="en-US" sz="1200" dirty="0"/>
          </a:p>
        </p:txBody>
      </p:sp>
      <p:sp>
        <p:nvSpPr>
          <p:cNvPr id="19" name="box SHS-W and SHS-C"/>
          <p:cNvSpPr/>
          <p:nvPr/>
        </p:nvSpPr>
        <p:spPr>
          <a:xfrm>
            <a:off x="4754880" y="2514600"/>
            <a:ext cx="3931920" cy="731520"/>
          </a:xfrm>
          <a:prstGeom prst="roundRect">
            <a:avLst>
              <a:gd name="adj" fmla="val 7500"/>
            </a:avLst>
          </a:prstGeom>
          <a:solidFill>
            <a:srgbClr val="E6F0FB"/>
          </a:solidFill>
          <a:ln w="22225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54880" y="2514600"/>
            <a:ext cx="393192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9"/>
                </a:solidFill>
              </a:rPr>
              <a:t>SHS-W and SHS-C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670"/>
                </a:solidFill>
              </a:rPr>
              <a:t>detect the drift, recover within 1–2 rounds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76656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happens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.\demo.ps1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Recreates Kafka topics, starts producer, 8 edges, server, evaluator; opens Grafana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 minutes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 rounds at 0.75 s each; drifts about 1:00 and 1:55 into the run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9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am22 Plain">
  <a:themeElements>
    <a:clrScheme name="Team22 Plain">
      <a:dk1>
        <a:srgbClr val="1F2329"/>
      </a:dk1>
      <a:lt1>
        <a:srgbClr val="FFFFFF"/>
      </a:lt1>
      <a:dk2>
        <a:srgbClr val="5F6670"/>
      </a:dk2>
      <a:lt2>
        <a:srgbClr val="F1F3F4"/>
      </a:lt2>
      <a:accent1>
        <a:srgbClr val="2A78D6"/>
      </a:accent1>
      <a:accent2>
        <a:srgbClr val="7D848C"/>
      </a:accent2>
      <a:accent3>
        <a:srgbClr val="A3A9B0"/>
      </a:accent3>
      <a:accent4>
        <a:srgbClr val="3D5A80"/>
      </a:accent4>
      <a:accent5>
        <a:srgbClr val="B5473A"/>
      </a:accent5>
      <a:accent6>
        <a:srgbClr val="8A8F96"/>
      </a:accent6>
      <a:hlink>
        <a:srgbClr val="2A78D6"/>
      </a:hlink>
      <a:folHlink>
        <a:srgbClr val="5F6670"/>
      </a:folHlink>
    </a:clrScheme>
    <a:fontScheme name="Team22 Plai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StreamHybridSketch: Federated Sketches for Privacy-Preserving Streaming Analytics</dc:title>
  <dc:subject>PptxGenJS Presentation</dc:subject>
  <dc:creator>Team 22</dc:creator>
  <cp:lastModifiedBy>Team 22</cp:lastModifiedBy>
  <cp:revision>1</cp:revision>
  <dcterms:created xsi:type="dcterms:W3CDTF">2026-10-16T08:27:38Z</dcterms:created>
  <dcterms:modified xsi:type="dcterms:W3CDTF">2026-10-16T08:27:38Z</dcterms:modified>
</cp:coreProperties>
</file>